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21374100" cy="30276800"/>
  <p:notesSz cx="6858000" cy="9144000"/>
  <p:embeddedFontLst>
    <p:embeddedFont>
      <p:font typeface="Georgia Bold" charset="1" panose="02040802050405020203"/>
      <p:regular r:id="rId10"/>
    </p:embeddedFont>
    <p:embeddedFont>
      <p:font typeface="Arial Bold" charset="1" panose="020B0704020202020204"/>
      <p:regular r:id="rId11"/>
    </p:embeddedFont>
    <p:embeddedFont>
      <p:font typeface="Arial" charset="1" panose="020B060402020202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13" Target="../media/image11.png" Type="http://schemas.openxmlformats.org/officeDocument/2006/relationships/image"/><Relationship Id="rId14" Target="https://eigtrust.acm.org/trust2027/" TargetMode="External" Type="http://schemas.openxmlformats.org/officeDocument/2006/relationships/hyperlink"/><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970426"/>
            <a:ext cx="21401056" cy="26276809"/>
          </a:xfrm>
          <a:custGeom>
            <a:avLst/>
            <a:gdLst/>
            <a:ahLst/>
            <a:cxnLst/>
            <a:rect r="r" b="b" t="t" l="l"/>
            <a:pathLst>
              <a:path h="26276809" w="21401056">
                <a:moveTo>
                  <a:pt x="0" y="0"/>
                </a:moveTo>
                <a:lnTo>
                  <a:pt x="21401056" y="0"/>
                </a:lnTo>
                <a:lnTo>
                  <a:pt x="21401056" y="26276809"/>
                </a:lnTo>
                <a:lnTo>
                  <a:pt x="0" y="26276809"/>
                </a:lnTo>
                <a:lnTo>
                  <a:pt x="0" y="0"/>
                </a:lnTo>
                <a:close/>
              </a:path>
            </a:pathLst>
          </a:custGeom>
          <a:blipFill>
            <a:blip r:embed="rId3">
              <a:alphaModFix amt="19999"/>
            </a:blip>
            <a:stretch>
              <a:fillRect l="-31855" t="0" r="-31855" b="0"/>
            </a:stretch>
          </a:blipFill>
        </p:spPr>
      </p:sp>
      <p:grpSp>
        <p:nvGrpSpPr>
          <p:cNvPr name="Group 3" id="3"/>
          <p:cNvGrpSpPr/>
          <p:nvPr/>
        </p:nvGrpSpPr>
        <p:grpSpPr>
          <a:xfrm rot="0">
            <a:off x="0" y="0"/>
            <a:ext cx="21401056" cy="6253201"/>
            <a:chOff x="0" y="0"/>
            <a:chExt cx="28534741" cy="8337601"/>
          </a:xfrm>
        </p:grpSpPr>
        <p:sp>
          <p:nvSpPr>
            <p:cNvPr name="Freeform 4" id="4"/>
            <p:cNvSpPr/>
            <p:nvPr/>
          </p:nvSpPr>
          <p:spPr>
            <a:xfrm flipH="false" flipV="false" rot="0">
              <a:off x="0" y="0"/>
              <a:ext cx="28534742" cy="8337550"/>
            </a:xfrm>
            <a:custGeom>
              <a:avLst/>
              <a:gdLst/>
              <a:ahLst/>
              <a:cxnLst/>
              <a:rect r="r" b="b" t="t" l="l"/>
              <a:pathLst>
                <a:path h="8337550" w="28534742">
                  <a:moveTo>
                    <a:pt x="0" y="0"/>
                  </a:moveTo>
                  <a:lnTo>
                    <a:pt x="28534742" y="0"/>
                  </a:lnTo>
                  <a:lnTo>
                    <a:pt x="28534742" y="8337550"/>
                  </a:lnTo>
                  <a:lnTo>
                    <a:pt x="0" y="8337550"/>
                  </a:lnTo>
                  <a:lnTo>
                    <a:pt x="0" y="0"/>
                  </a:lnTo>
                  <a:close/>
                </a:path>
              </a:pathLst>
            </a:custGeom>
            <a:blipFill>
              <a:blip r:embed="rId4"/>
              <a:stretch>
                <a:fillRect l="0" t="-206680" r="0" b="-206684"/>
              </a:stretch>
            </a:blipFill>
          </p:spPr>
        </p:sp>
      </p:grpSp>
      <p:grpSp>
        <p:nvGrpSpPr>
          <p:cNvPr name="Group 5" id="5"/>
          <p:cNvGrpSpPr/>
          <p:nvPr/>
        </p:nvGrpSpPr>
        <p:grpSpPr>
          <a:xfrm rot="0">
            <a:off x="0" y="0"/>
            <a:ext cx="12129059" cy="6253201"/>
            <a:chOff x="0" y="0"/>
            <a:chExt cx="16172078" cy="8337601"/>
          </a:xfrm>
        </p:grpSpPr>
        <p:sp>
          <p:nvSpPr>
            <p:cNvPr name="Freeform 6" id="6"/>
            <p:cNvSpPr/>
            <p:nvPr/>
          </p:nvSpPr>
          <p:spPr>
            <a:xfrm flipH="false" flipV="false" rot="0">
              <a:off x="0" y="0"/>
              <a:ext cx="16172053" cy="8337550"/>
            </a:xfrm>
            <a:custGeom>
              <a:avLst/>
              <a:gdLst/>
              <a:ahLst/>
              <a:cxnLst/>
              <a:rect r="r" b="b" t="t" l="l"/>
              <a:pathLst>
                <a:path h="8337550" w="16172053">
                  <a:moveTo>
                    <a:pt x="0" y="0"/>
                  </a:moveTo>
                  <a:lnTo>
                    <a:pt x="16172053" y="0"/>
                  </a:lnTo>
                  <a:lnTo>
                    <a:pt x="16172053" y="8337550"/>
                  </a:lnTo>
                  <a:lnTo>
                    <a:pt x="0" y="8337550"/>
                  </a:lnTo>
                  <a:close/>
                </a:path>
              </a:pathLst>
            </a:custGeom>
            <a:solidFill>
              <a:srgbClr val="001F3F"/>
            </a:solidFill>
          </p:spPr>
        </p:sp>
      </p:grpSp>
      <p:grpSp>
        <p:nvGrpSpPr>
          <p:cNvPr name="Group 7" id="7"/>
          <p:cNvGrpSpPr/>
          <p:nvPr/>
        </p:nvGrpSpPr>
        <p:grpSpPr>
          <a:xfrm rot="0">
            <a:off x="0" y="6145387"/>
            <a:ext cx="21401056" cy="107813"/>
            <a:chOff x="0" y="0"/>
            <a:chExt cx="28534741" cy="143751"/>
          </a:xfrm>
        </p:grpSpPr>
        <p:sp>
          <p:nvSpPr>
            <p:cNvPr name="Freeform 8" id="8"/>
            <p:cNvSpPr/>
            <p:nvPr/>
          </p:nvSpPr>
          <p:spPr>
            <a:xfrm flipH="false" flipV="false" rot="0">
              <a:off x="0" y="0"/>
              <a:ext cx="28534742" cy="143764"/>
            </a:xfrm>
            <a:custGeom>
              <a:avLst/>
              <a:gdLst/>
              <a:ahLst/>
              <a:cxnLst/>
              <a:rect r="r" b="b" t="t" l="l"/>
              <a:pathLst>
                <a:path h="143764" w="28534742">
                  <a:moveTo>
                    <a:pt x="0" y="0"/>
                  </a:moveTo>
                  <a:lnTo>
                    <a:pt x="28534742" y="0"/>
                  </a:lnTo>
                  <a:lnTo>
                    <a:pt x="28534742" y="143764"/>
                  </a:lnTo>
                  <a:lnTo>
                    <a:pt x="0" y="143764"/>
                  </a:lnTo>
                  <a:close/>
                </a:path>
              </a:pathLst>
            </a:custGeom>
            <a:solidFill>
              <a:srgbClr val="FFB81C"/>
            </a:solidFill>
          </p:spPr>
        </p:sp>
      </p:grpSp>
      <p:grpSp>
        <p:nvGrpSpPr>
          <p:cNvPr name="Group 9" id="9"/>
          <p:cNvGrpSpPr/>
          <p:nvPr/>
        </p:nvGrpSpPr>
        <p:grpSpPr>
          <a:xfrm rot="0">
            <a:off x="916419" y="673837"/>
            <a:ext cx="3827393" cy="754694"/>
            <a:chOff x="0" y="0"/>
            <a:chExt cx="5103190" cy="1006259"/>
          </a:xfrm>
        </p:grpSpPr>
        <p:sp>
          <p:nvSpPr>
            <p:cNvPr name="Freeform 10" id="10"/>
            <p:cNvSpPr/>
            <p:nvPr/>
          </p:nvSpPr>
          <p:spPr>
            <a:xfrm flipH="false" flipV="false" rot="0">
              <a:off x="0" y="0"/>
              <a:ext cx="5103241" cy="1006348"/>
            </a:xfrm>
            <a:custGeom>
              <a:avLst/>
              <a:gdLst/>
              <a:ahLst/>
              <a:cxnLst/>
              <a:rect r="r" b="b" t="t" l="l"/>
              <a:pathLst>
                <a:path h="1006348" w="5103241">
                  <a:moveTo>
                    <a:pt x="0" y="431292"/>
                  </a:moveTo>
                  <a:cubicBezTo>
                    <a:pt x="0" y="193040"/>
                    <a:pt x="193040" y="0"/>
                    <a:pt x="431292" y="0"/>
                  </a:cubicBezTo>
                  <a:lnTo>
                    <a:pt x="4671949" y="0"/>
                  </a:lnTo>
                  <a:cubicBezTo>
                    <a:pt x="4910074" y="0"/>
                    <a:pt x="5103241" y="193040"/>
                    <a:pt x="5103241" y="431292"/>
                  </a:cubicBezTo>
                  <a:lnTo>
                    <a:pt x="5103241" y="575056"/>
                  </a:lnTo>
                  <a:cubicBezTo>
                    <a:pt x="5103241" y="813181"/>
                    <a:pt x="4910201" y="1006348"/>
                    <a:pt x="4671949" y="1006348"/>
                  </a:cubicBezTo>
                  <a:lnTo>
                    <a:pt x="431292" y="1006348"/>
                  </a:lnTo>
                  <a:cubicBezTo>
                    <a:pt x="193040" y="1006221"/>
                    <a:pt x="0" y="813181"/>
                    <a:pt x="0" y="575056"/>
                  </a:cubicBezTo>
                  <a:close/>
                </a:path>
              </a:pathLst>
            </a:custGeom>
            <a:solidFill>
              <a:srgbClr val="FFB81C"/>
            </a:solidFill>
          </p:spPr>
        </p:sp>
      </p:grpSp>
      <p:grpSp>
        <p:nvGrpSpPr>
          <p:cNvPr name="Group 11" id="11"/>
          <p:cNvGrpSpPr/>
          <p:nvPr/>
        </p:nvGrpSpPr>
        <p:grpSpPr>
          <a:xfrm rot="0">
            <a:off x="916419" y="673837"/>
            <a:ext cx="3827393" cy="754694"/>
            <a:chOff x="0" y="0"/>
            <a:chExt cx="5103190" cy="1006259"/>
          </a:xfrm>
        </p:grpSpPr>
        <p:sp>
          <p:nvSpPr>
            <p:cNvPr name="Freeform 12" id="12"/>
            <p:cNvSpPr/>
            <p:nvPr/>
          </p:nvSpPr>
          <p:spPr>
            <a:xfrm flipH="false" flipV="false" rot="0">
              <a:off x="0" y="0"/>
              <a:ext cx="5103190" cy="1006263"/>
            </a:xfrm>
            <a:custGeom>
              <a:avLst/>
              <a:gdLst/>
              <a:ahLst/>
              <a:cxnLst/>
              <a:rect r="r" b="b" t="t" l="l"/>
              <a:pathLst>
                <a:path h="1006263" w="5103190">
                  <a:moveTo>
                    <a:pt x="0" y="0"/>
                  </a:moveTo>
                  <a:lnTo>
                    <a:pt x="5103190" y="0"/>
                  </a:lnTo>
                  <a:lnTo>
                    <a:pt x="5103190" y="1006263"/>
                  </a:lnTo>
                  <a:lnTo>
                    <a:pt x="0" y="1006263"/>
                  </a:lnTo>
                  <a:close/>
                </a:path>
              </a:pathLst>
            </a:custGeom>
            <a:blipFill>
              <a:blip r:embed="rId5">
                <a:alphaModFix amt="0"/>
              </a:blip>
              <a:stretch>
                <a:fillRect l="0" t="-48817" r="0" b="-48816"/>
              </a:stretch>
            </a:blipFill>
          </p:spPr>
        </p:sp>
        <p:sp>
          <p:nvSpPr>
            <p:cNvPr name="TextBox 13" id="13"/>
            <p:cNvSpPr txBox="true"/>
            <p:nvPr/>
          </p:nvSpPr>
          <p:spPr>
            <a:xfrm>
              <a:off x="0" y="-9525"/>
              <a:ext cx="5103190" cy="1015784"/>
            </a:xfrm>
            <a:prstGeom prst="rect">
              <a:avLst/>
            </a:prstGeom>
          </p:spPr>
          <p:txBody>
            <a:bodyPr anchor="ctr" rtlCol="false" tIns="0" lIns="0" bIns="0" rIns="0"/>
            <a:lstStyle/>
            <a:p>
              <a:pPr algn="ctr">
                <a:lnSpc>
                  <a:spcPts val="3310"/>
                </a:lnSpc>
              </a:pPr>
              <a:r>
                <a:rPr lang="en-US" sz="2759" b="true">
                  <a:solidFill>
                    <a:srgbClr val="001F3F"/>
                  </a:solidFill>
                  <a:latin typeface="Georgia Bold"/>
                  <a:ea typeface="Georgia Bold"/>
                  <a:cs typeface="Georgia Bold"/>
                  <a:sym typeface="Georgia Bold"/>
                </a:rPr>
                <a:t>Call for Papers</a:t>
              </a:r>
            </a:p>
          </p:txBody>
        </p:sp>
      </p:grpSp>
      <p:grpSp>
        <p:nvGrpSpPr>
          <p:cNvPr name="Group 14" id="14"/>
          <p:cNvGrpSpPr/>
          <p:nvPr/>
        </p:nvGrpSpPr>
        <p:grpSpPr>
          <a:xfrm rot="0">
            <a:off x="916419" y="1523697"/>
            <a:ext cx="10511857" cy="1805883"/>
            <a:chOff x="0" y="0"/>
            <a:chExt cx="14015809" cy="2407844"/>
          </a:xfrm>
        </p:grpSpPr>
        <p:sp>
          <p:nvSpPr>
            <p:cNvPr name="Freeform 15" id="15"/>
            <p:cNvSpPr/>
            <p:nvPr/>
          </p:nvSpPr>
          <p:spPr>
            <a:xfrm flipH="false" flipV="false" rot="0">
              <a:off x="0" y="0"/>
              <a:ext cx="14015803" cy="2407843"/>
            </a:xfrm>
            <a:custGeom>
              <a:avLst/>
              <a:gdLst/>
              <a:ahLst/>
              <a:cxnLst/>
              <a:rect r="r" b="b" t="t" l="l"/>
              <a:pathLst>
                <a:path h="2407843" w="14015803">
                  <a:moveTo>
                    <a:pt x="0" y="0"/>
                  </a:moveTo>
                  <a:lnTo>
                    <a:pt x="14015803" y="0"/>
                  </a:lnTo>
                  <a:lnTo>
                    <a:pt x="14015803" y="2407843"/>
                  </a:lnTo>
                  <a:lnTo>
                    <a:pt x="0" y="2407843"/>
                  </a:lnTo>
                  <a:close/>
                </a:path>
              </a:pathLst>
            </a:custGeom>
            <a:blipFill>
              <a:blip r:embed="rId5">
                <a:alphaModFix amt="0"/>
              </a:blip>
              <a:stretch>
                <a:fillRect l="0" t="-63420" r="0" b="-63420"/>
              </a:stretch>
            </a:blipFill>
          </p:spPr>
        </p:sp>
        <p:sp>
          <p:nvSpPr>
            <p:cNvPr name="TextBox 16" id="16"/>
            <p:cNvSpPr txBox="true"/>
            <p:nvPr/>
          </p:nvSpPr>
          <p:spPr>
            <a:xfrm>
              <a:off x="0" y="-9525"/>
              <a:ext cx="14015809" cy="2417369"/>
            </a:xfrm>
            <a:prstGeom prst="rect">
              <a:avLst/>
            </a:prstGeom>
          </p:spPr>
          <p:txBody>
            <a:bodyPr anchor="ctr" rtlCol="false" tIns="0" lIns="0" bIns="0" rIns="0"/>
            <a:lstStyle/>
            <a:p>
              <a:pPr algn="l">
                <a:lnSpc>
                  <a:spcPts val="14007"/>
                </a:lnSpc>
              </a:pPr>
              <a:r>
                <a:rPr lang="en-US" sz="11672" b="true">
                  <a:solidFill>
                    <a:srgbClr val="FFFFFF"/>
                  </a:solidFill>
                  <a:latin typeface="Georgia Bold"/>
                  <a:ea typeface="Georgia Bold"/>
                  <a:cs typeface="Georgia Bold"/>
                  <a:sym typeface="Georgia Bold"/>
                </a:rPr>
                <a:t>REED-AI</a:t>
              </a:r>
            </a:p>
          </p:txBody>
        </p:sp>
      </p:grpSp>
      <p:grpSp>
        <p:nvGrpSpPr>
          <p:cNvPr name="Group 17" id="17"/>
          <p:cNvGrpSpPr/>
          <p:nvPr/>
        </p:nvGrpSpPr>
        <p:grpSpPr>
          <a:xfrm rot="0">
            <a:off x="970321" y="5255924"/>
            <a:ext cx="10727484" cy="545687"/>
            <a:chOff x="0" y="0"/>
            <a:chExt cx="14303311" cy="727582"/>
          </a:xfrm>
        </p:grpSpPr>
        <p:sp>
          <p:nvSpPr>
            <p:cNvPr name="Freeform 18" id="18"/>
            <p:cNvSpPr/>
            <p:nvPr/>
          </p:nvSpPr>
          <p:spPr>
            <a:xfrm flipH="false" flipV="false" rot="0">
              <a:off x="0" y="0"/>
              <a:ext cx="14303307" cy="727585"/>
            </a:xfrm>
            <a:custGeom>
              <a:avLst/>
              <a:gdLst/>
              <a:ahLst/>
              <a:cxnLst/>
              <a:rect r="r" b="b" t="t" l="l"/>
              <a:pathLst>
                <a:path h="727585" w="14303307">
                  <a:moveTo>
                    <a:pt x="0" y="0"/>
                  </a:moveTo>
                  <a:lnTo>
                    <a:pt x="14303307" y="0"/>
                  </a:lnTo>
                  <a:lnTo>
                    <a:pt x="14303307" y="727585"/>
                  </a:lnTo>
                  <a:lnTo>
                    <a:pt x="0" y="727585"/>
                  </a:lnTo>
                  <a:close/>
                </a:path>
              </a:pathLst>
            </a:custGeom>
            <a:blipFill>
              <a:blip r:embed="rId5">
                <a:alphaModFix amt="0"/>
              </a:blip>
              <a:stretch>
                <a:fillRect l="0" t="-333655" r="0" b="-332442"/>
              </a:stretch>
            </a:blipFill>
          </p:spPr>
        </p:sp>
        <p:sp>
          <p:nvSpPr>
            <p:cNvPr name="TextBox 19" id="19"/>
            <p:cNvSpPr txBox="true"/>
            <p:nvPr/>
          </p:nvSpPr>
          <p:spPr>
            <a:xfrm>
              <a:off x="0" y="-9525"/>
              <a:ext cx="14303311" cy="737107"/>
            </a:xfrm>
            <a:prstGeom prst="rect">
              <a:avLst/>
            </a:prstGeom>
          </p:spPr>
          <p:txBody>
            <a:bodyPr anchor="ctr" rtlCol="false" tIns="0" lIns="0" bIns="0" rIns="0"/>
            <a:lstStyle/>
            <a:p>
              <a:pPr algn="l">
                <a:lnSpc>
                  <a:spcPts val="3185"/>
                </a:lnSpc>
              </a:pPr>
              <a:r>
                <a:rPr lang="en-US" sz="2654" b="true">
                  <a:solidFill>
                    <a:srgbClr val="FFB81C"/>
                  </a:solidFill>
                  <a:latin typeface="Arial Bold"/>
                  <a:ea typeface="Arial Bold"/>
                  <a:cs typeface="Arial Bold"/>
                  <a:sym typeface="Arial Bold"/>
                </a:rPr>
                <a:t>Emerging Area Track  •  ACM TRUST 2027</a:t>
              </a:r>
            </a:p>
          </p:txBody>
        </p:sp>
      </p:grpSp>
      <p:grpSp>
        <p:nvGrpSpPr>
          <p:cNvPr name="Group 20" id="20"/>
          <p:cNvGrpSpPr/>
          <p:nvPr/>
        </p:nvGrpSpPr>
        <p:grpSpPr>
          <a:xfrm rot="0">
            <a:off x="14220802" y="4526177"/>
            <a:ext cx="5275073" cy="1299065"/>
            <a:chOff x="0" y="0"/>
            <a:chExt cx="7033430" cy="1732087"/>
          </a:xfrm>
        </p:grpSpPr>
        <p:sp>
          <p:nvSpPr>
            <p:cNvPr name="Freeform 21" id="21"/>
            <p:cNvSpPr/>
            <p:nvPr/>
          </p:nvSpPr>
          <p:spPr>
            <a:xfrm flipH="false" flipV="false" rot="0">
              <a:off x="0" y="0"/>
              <a:ext cx="7033506" cy="1732087"/>
            </a:xfrm>
            <a:custGeom>
              <a:avLst/>
              <a:gdLst/>
              <a:ahLst/>
              <a:cxnLst/>
              <a:rect r="r" b="b" t="t" l="l"/>
              <a:pathLst>
                <a:path h="1732087" w="7033506">
                  <a:moveTo>
                    <a:pt x="0" y="506996"/>
                  </a:moveTo>
                  <a:cubicBezTo>
                    <a:pt x="0" y="226924"/>
                    <a:pt x="136884" y="0"/>
                    <a:pt x="305827" y="0"/>
                  </a:cubicBezTo>
                  <a:lnTo>
                    <a:pt x="6727657" y="0"/>
                  </a:lnTo>
                  <a:cubicBezTo>
                    <a:pt x="6896510" y="0"/>
                    <a:pt x="7033506" y="226924"/>
                    <a:pt x="7033506" y="506996"/>
                  </a:cubicBezTo>
                  <a:lnTo>
                    <a:pt x="7033506" y="1225091"/>
                  </a:lnTo>
                  <a:cubicBezTo>
                    <a:pt x="7033506" y="1505013"/>
                    <a:pt x="6896600" y="1732087"/>
                    <a:pt x="6727657" y="1732087"/>
                  </a:cubicBezTo>
                  <a:lnTo>
                    <a:pt x="305827" y="1732087"/>
                  </a:lnTo>
                  <a:cubicBezTo>
                    <a:pt x="136884" y="1732087"/>
                    <a:pt x="0" y="1505163"/>
                    <a:pt x="0" y="1225091"/>
                  </a:cubicBezTo>
                  <a:close/>
                </a:path>
              </a:pathLst>
            </a:custGeom>
            <a:solidFill>
              <a:srgbClr val="FFFFFF"/>
            </a:solidFill>
          </p:spPr>
        </p:sp>
      </p:grpSp>
      <p:grpSp>
        <p:nvGrpSpPr>
          <p:cNvPr name="Group 22" id="22"/>
          <p:cNvGrpSpPr/>
          <p:nvPr/>
        </p:nvGrpSpPr>
        <p:grpSpPr>
          <a:xfrm rot="0">
            <a:off x="13408293" y="4640834"/>
            <a:ext cx="6900091" cy="1069753"/>
            <a:chOff x="0" y="0"/>
            <a:chExt cx="9200121" cy="1426337"/>
          </a:xfrm>
        </p:grpSpPr>
        <p:sp>
          <p:nvSpPr>
            <p:cNvPr name="Freeform 23" id="23"/>
            <p:cNvSpPr/>
            <p:nvPr/>
          </p:nvSpPr>
          <p:spPr>
            <a:xfrm flipH="false" flipV="false" rot="0">
              <a:off x="0" y="0"/>
              <a:ext cx="9200117" cy="1426330"/>
            </a:xfrm>
            <a:custGeom>
              <a:avLst/>
              <a:gdLst/>
              <a:ahLst/>
              <a:cxnLst/>
              <a:rect r="r" b="b" t="t" l="l"/>
              <a:pathLst>
                <a:path h="1426330" w="9200117">
                  <a:moveTo>
                    <a:pt x="0" y="0"/>
                  </a:moveTo>
                  <a:lnTo>
                    <a:pt x="9200117" y="0"/>
                  </a:lnTo>
                  <a:lnTo>
                    <a:pt x="9200117" y="1426330"/>
                  </a:lnTo>
                  <a:lnTo>
                    <a:pt x="0" y="1426330"/>
                  </a:lnTo>
                  <a:close/>
                </a:path>
              </a:pathLst>
            </a:custGeom>
            <a:blipFill>
              <a:blip r:embed="rId5">
                <a:alphaModFix amt="0"/>
              </a:blip>
              <a:stretch>
                <a:fillRect l="0" t="-86628" r="0" b="-64736"/>
              </a:stretch>
            </a:blipFill>
          </p:spPr>
        </p:sp>
        <p:sp>
          <p:nvSpPr>
            <p:cNvPr name="TextBox 24" id="24"/>
            <p:cNvSpPr txBox="true"/>
            <p:nvPr/>
          </p:nvSpPr>
          <p:spPr>
            <a:xfrm>
              <a:off x="0" y="-19050"/>
              <a:ext cx="9200121" cy="1445387"/>
            </a:xfrm>
            <a:prstGeom prst="rect">
              <a:avLst/>
            </a:prstGeom>
          </p:spPr>
          <p:txBody>
            <a:bodyPr anchor="ctr" rtlCol="false" tIns="0" lIns="0" bIns="0" rIns="0"/>
            <a:lstStyle/>
            <a:p>
              <a:pPr algn="ctr">
                <a:lnSpc>
                  <a:spcPts val="4025"/>
                </a:lnSpc>
              </a:pPr>
              <a:r>
                <a:rPr lang="en-US" sz="3354" b="true">
                  <a:solidFill>
                    <a:srgbClr val="001F3F"/>
                  </a:solidFill>
                  <a:latin typeface="Arial Bold"/>
                  <a:ea typeface="Arial Bold"/>
                  <a:cs typeface="Arial Bold"/>
                  <a:sym typeface="Arial Bold"/>
                </a:rPr>
                <a:t>March 7-9, 2027</a:t>
              </a:r>
            </a:p>
            <a:p>
              <a:pPr algn="ctr">
                <a:lnSpc>
                  <a:spcPts val="3185"/>
                </a:lnSpc>
              </a:pPr>
              <a:r>
                <a:rPr lang="en-US" sz="2654" b="true">
                  <a:solidFill>
                    <a:srgbClr val="001F3F"/>
                  </a:solidFill>
                  <a:latin typeface="Arial Bold"/>
                  <a:ea typeface="Arial Bold"/>
                  <a:cs typeface="Arial Bold"/>
                  <a:sym typeface="Arial Bold"/>
                </a:rPr>
                <a:t>Washington, DC, USA</a:t>
              </a:r>
            </a:p>
          </p:txBody>
        </p:sp>
      </p:grpSp>
      <p:grpSp>
        <p:nvGrpSpPr>
          <p:cNvPr name="Group 25" id="25"/>
          <p:cNvGrpSpPr/>
          <p:nvPr/>
        </p:nvGrpSpPr>
        <p:grpSpPr>
          <a:xfrm rot="0">
            <a:off x="791316" y="14566201"/>
            <a:ext cx="7140755" cy="7170917"/>
            <a:chOff x="0" y="0"/>
            <a:chExt cx="9521007" cy="9561223"/>
          </a:xfrm>
        </p:grpSpPr>
        <p:grpSp>
          <p:nvGrpSpPr>
            <p:cNvPr name="Group 26" id="26"/>
            <p:cNvGrpSpPr/>
            <p:nvPr/>
          </p:nvGrpSpPr>
          <p:grpSpPr>
            <a:xfrm rot="0">
              <a:off x="0" y="107810"/>
              <a:ext cx="179692" cy="754698"/>
              <a:chOff x="0" y="0"/>
              <a:chExt cx="179692" cy="754698"/>
            </a:xfrm>
          </p:grpSpPr>
          <p:sp>
            <p:nvSpPr>
              <p:cNvPr name="Freeform 27" id="27"/>
              <p:cNvSpPr/>
              <p:nvPr/>
            </p:nvSpPr>
            <p:spPr>
              <a:xfrm flipH="false" flipV="false" rot="0">
                <a:off x="0" y="0"/>
                <a:ext cx="179578" cy="754634"/>
              </a:xfrm>
              <a:custGeom>
                <a:avLst/>
                <a:gdLst/>
                <a:ahLst/>
                <a:cxnLst/>
                <a:rect r="r" b="b" t="t" l="l"/>
                <a:pathLst>
                  <a:path h="754634" w="179578">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a:srgbClr val="FFB81C"/>
              </a:solidFill>
            </p:spPr>
          </p:sp>
        </p:grpSp>
        <p:grpSp>
          <p:nvGrpSpPr>
            <p:cNvPr name="Group 28" id="28"/>
            <p:cNvGrpSpPr/>
            <p:nvPr/>
          </p:nvGrpSpPr>
          <p:grpSpPr>
            <a:xfrm rot="0">
              <a:off x="467195" y="0"/>
              <a:ext cx="7942288" cy="1042200"/>
              <a:chOff x="0" y="0"/>
              <a:chExt cx="7942288" cy="1042200"/>
            </a:xfrm>
          </p:grpSpPr>
          <p:sp>
            <p:nvSpPr>
              <p:cNvPr name="Freeform 29" id="29"/>
              <p:cNvSpPr/>
              <p:nvPr/>
            </p:nvSpPr>
            <p:spPr>
              <a:xfrm flipH="false" flipV="false" rot="0">
                <a:off x="0" y="0"/>
                <a:ext cx="7942289" cy="1042201"/>
              </a:xfrm>
              <a:custGeom>
                <a:avLst/>
                <a:gdLst/>
                <a:ahLst/>
                <a:cxnLst/>
                <a:rect r="r" b="b" t="t" l="l"/>
                <a:pathLst>
                  <a:path h="1042201" w="7942289">
                    <a:moveTo>
                      <a:pt x="0" y="0"/>
                    </a:moveTo>
                    <a:lnTo>
                      <a:pt x="7942289" y="0"/>
                    </a:lnTo>
                    <a:lnTo>
                      <a:pt x="7942289" y="1042201"/>
                    </a:lnTo>
                    <a:lnTo>
                      <a:pt x="0" y="1042201"/>
                    </a:lnTo>
                    <a:close/>
                  </a:path>
                </a:pathLst>
              </a:custGeom>
              <a:blipFill>
                <a:blip r:embed="rId5">
                  <a:alphaModFix amt="0"/>
                </a:blip>
                <a:stretch>
                  <a:fillRect l="0" t="-98489" r="0" b="-98489"/>
                </a:stretch>
              </a:blipFill>
            </p:spPr>
          </p:sp>
          <p:sp>
            <p:nvSpPr>
              <p:cNvPr name="TextBox 30" id="30"/>
              <p:cNvSpPr txBox="true"/>
              <p:nvPr/>
            </p:nvSpPr>
            <p:spPr>
              <a:xfrm>
                <a:off x="0" y="-9525"/>
                <a:ext cx="7942288" cy="1051725"/>
              </a:xfrm>
              <a:prstGeom prst="rect">
                <a:avLst/>
              </a:prstGeom>
            </p:spPr>
            <p:txBody>
              <a:bodyPr anchor="ctr" rtlCol="false" tIns="0" lIns="0" bIns="0" rIns="0"/>
              <a:lstStyle/>
              <a:p>
                <a:pPr algn="l">
                  <a:lnSpc>
                    <a:spcPts val="5093"/>
                  </a:lnSpc>
                </a:pPr>
                <a:r>
                  <a:rPr lang="en-US" sz="4244" b="true">
                    <a:solidFill>
                      <a:srgbClr val="003594"/>
                    </a:solidFill>
                    <a:latin typeface="Georgia Bold"/>
                    <a:ea typeface="Georgia Bold"/>
                    <a:cs typeface="Georgia Bold"/>
                    <a:sym typeface="Georgia Bold"/>
                  </a:rPr>
                  <a:t>Important Dates</a:t>
                </a:r>
              </a:p>
            </p:txBody>
          </p:sp>
        </p:grpSp>
        <p:grpSp>
          <p:nvGrpSpPr>
            <p:cNvPr name="Group 31" id="31"/>
            <p:cNvGrpSpPr/>
            <p:nvPr/>
          </p:nvGrpSpPr>
          <p:grpSpPr>
            <a:xfrm rot="0">
              <a:off x="467195" y="970331"/>
              <a:ext cx="7942288" cy="53912"/>
              <a:chOff x="0" y="0"/>
              <a:chExt cx="7942288" cy="53912"/>
            </a:xfrm>
          </p:grpSpPr>
          <p:sp>
            <p:nvSpPr>
              <p:cNvPr name="Freeform 32" id="32"/>
              <p:cNvSpPr/>
              <p:nvPr/>
            </p:nvSpPr>
            <p:spPr>
              <a:xfrm flipH="false" flipV="false" rot="0">
                <a:off x="0" y="0"/>
                <a:ext cx="7942326" cy="53848"/>
              </a:xfrm>
              <a:custGeom>
                <a:avLst/>
                <a:gdLst/>
                <a:ahLst/>
                <a:cxnLst/>
                <a:rect r="r" b="b" t="t" l="l"/>
                <a:pathLst>
                  <a:path h="53848" w="7942326">
                    <a:moveTo>
                      <a:pt x="0" y="0"/>
                    </a:moveTo>
                    <a:lnTo>
                      <a:pt x="7942326" y="0"/>
                    </a:lnTo>
                    <a:lnTo>
                      <a:pt x="7942326" y="53848"/>
                    </a:lnTo>
                    <a:lnTo>
                      <a:pt x="0" y="53848"/>
                    </a:lnTo>
                    <a:close/>
                  </a:path>
                </a:pathLst>
              </a:custGeom>
              <a:solidFill>
                <a:srgbClr val="D5DFEA"/>
              </a:solidFill>
            </p:spPr>
          </p:sp>
        </p:grpSp>
        <p:grpSp>
          <p:nvGrpSpPr>
            <p:cNvPr name="Group 33" id="33"/>
            <p:cNvGrpSpPr/>
            <p:nvPr/>
          </p:nvGrpSpPr>
          <p:grpSpPr>
            <a:xfrm rot="0">
              <a:off x="0" y="1295492"/>
              <a:ext cx="9521007" cy="8265732"/>
              <a:chOff x="0" y="0"/>
              <a:chExt cx="9521007" cy="8265732"/>
            </a:xfrm>
          </p:grpSpPr>
          <p:sp>
            <p:nvSpPr>
              <p:cNvPr name="Freeform 34" id="34"/>
              <p:cNvSpPr/>
              <p:nvPr/>
            </p:nvSpPr>
            <p:spPr>
              <a:xfrm flipH="false" flipV="false" rot="0">
                <a:off x="0" y="0"/>
                <a:ext cx="9520951" cy="8265668"/>
              </a:xfrm>
              <a:custGeom>
                <a:avLst/>
                <a:gdLst/>
                <a:ahLst/>
                <a:cxnLst/>
                <a:rect r="r" b="b" t="t" l="l"/>
                <a:pathLst>
                  <a:path h="8265668" w="9520951">
                    <a:moveTo>
                      <a:pt x="0" y="431165"/>
                    </a:moveTo>
                    <a:cubicBezTo>
                      <a:pt x="0" y="193040"/>
                      <a:pt x="218555" y="0"/>
                      <a:pt x="488154" y="0"/>
                    </a:cubicBezTo>
                    <a:lnTo>
                      <a:pt x="9032796" y="0"/>
                    </a:lnTo>
                    <a:cubicBezTo>
                      <a:pt x="9302395" y="0"/>
                      <a:pt x="9520951" y="193040"/>
                      <a:pt x="9520951" y="431165"/>
                    </a:cubicBezTo>
                    <a:lnTo>
                      <a:pt x="9520951" y="7834503"/>
                    </a:lnTo>
                    <a:cubicBezTo>
                      <a:pt x="9520951" y="8072628"/>
                      <a:pt x="9302395" y="8265668"/>
                      <a:pt x="9032796" y="8265668"/>
                    </a:cubicBezTo>
                    <a:lnTo>
                      <a:pt x="488154" y="8265668"/>
                    </a:lnTo>
                    <a:cubicBezTo>
                      <a:pt x="218555" y="8265668"/>
                      <a:pt x="0" y="8072628"/>
                      <a:pt x="0" y="7834503"/>
                    </a:cubicBezTo>
                    <a:close/>
                  </a:path>
                </a:pathLst>
              </a:custGeom>
              <a:solidFill>
                <a:srgbClr val="001F3F"/>
              </a:solidFill>
            </p:spPr>
          </p:sp>
        </p:grpSp>
        <p:grpSp>
          <p:nvGrpSpPr>
            <p:cNvPr name="Group 35" id="35"/>
            <p:cNvGrpSpPr/>
            <p:nvPr/>
          </p:nvGrpSpPr>
          <p:grpSpPr>
            <a:xfrm rot="0">
              <a:off x="813758" y="2481443"/>
              <a:ext cx="81383" cy="5965698"/>
              <a:chOff x="0" y="0"/>
              <a:chExt cx="81383" cy="5965698"/>
            </a:xfrm>
          </p:grpSpPr>
          <p:sp>
            <p:nvSpPr>
              <p:cNvPr name="Freeform 36" id="36"/>
              <p:cNvSpPr/>
              <p:nvPr/>
            </p:nvSpPr>
            <p:spPr>
              <a:xfrm flipH="false" flipV="false" rot="0">
                <a:off x="0" y="0"/>
                <a:ext cx="81383" cy="5965698"/>
              </a:xfrm>
              <a:custGeom>
                <a:avLst/>
                <a:gdLst/>
                <a:ahLst/>
                <a:cxnLst/>
                <a:rect r="r" b="b" t="t" l="l"/>
                <a:pathLst>
                  <a:path h="5965698" w="81383">
                    <a:moveTo>
                      <a:pt x="0" y="0"/>
                    </a:moveTo>
                    <a:lnTo>
                      <a:pt x="81383" y="0"/>
                    </a:lnTo>
                    <a:lnTo>
                      <a:pt x="81383" y="5965698"/>
                    </a:lnTo>
                    <a:lnTo>
                      <a:pt x="0" y="5965698"/>
                    </a:lnTo>
                    <a:close/>
                  </a:path>
                </a:pathLst>
              </a:custGeom>
              <a:solidFill>
                <a:srgbClr val="FFB81C"/>
              </a:solidFill>
            </p:spPr>
          </p:sp>
        </p:grpSp>
        <p:grpSp>
          <p:nvGrpSpPr>
            <p:cNvPr name="Group 37" id="37"/>
            <p:cNvGrpSpPr/>
            <p:nvPr/>
          </p:nvGrpSpPr>
          <p:grpSpPr>
            <a:xfrm rot="0">
              <a:off x="528946" y="2301751"/>
              <a:ext cx="651007" cy="575005"/>
              <a:chOff x="0" y="0"/>
              <a:chExt cx="651007" cy="575005"/>
            </a:xfrm>
          </p:grpSpPr>
          <p:sp>
            <p:nvSpPr>
              <p:cNvPr name="Freeform 38" id="38"/>
              <p:cNvSpPr/>
              <p:nvPr/>
            </p:nvSpPr>
            <p:spPr>
              <a:xfrm flipH="false" flipV="false" rot="0">
                <a:off x="0" y="0"/>
                <a:ext cx="651057" cy="575056"/>
              </a:xfrm>
              <a:custGeom>
                <a:avLst/>
                <a:gdLst/>
                <a:ahLst/>
                <a:cxnLst/>
                <a:rect r="r" b="b" t="t" l="l"/>
                <a:pathLst>
                  <a:path h="575056" w="651057">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a:srgbClr val="FFFFFF"/>
              </a:solidFill>
              <a:ln w="53907" cap="sq">
                <a:solidFill>
                  <a:srgbClr val="FFB81C"/>
                </a:solidFill>
                <a:prstDash val="solid"/>
                <a:miter/>
              </a:ln>
            </p:spPr>
          </p:sp>
        </p:grpSp>
        <p:grpSp>
          <p:nvGrpSpPr>
            <p:cNvPr name="Group 39" id="39"/>
            <p:cNvGrpSpPr/>
            <p:nvPr/>
          </p:nvGrpSpPr>
          <p:grpSpPr>
            <a:xfrm rot="0">
              <a:off x="528946" y="3739264"/>
              <a:ext cx="651007" cy="575005"/>
              <a:chOff x="0" y="0"/>
              <a:chExt cx="651007" cy="575005"/>
            </a:xfrm>
          </p:grpSpPr>
          <p:sp>
            <p:nvSpPr>
              <p:cNvPr name="Freeform 40" id="40"/>
              <p:cNvSpPr/>
              <p:nvPr/>
            </p:nvSpPr>
            <p:spPr>
              <a:xfrm flipH="false" flipV="false" rot="0">
                <a:off x="0" y="0"/>
                <a:ext cx="651057" cy="575056"/>
              </a:xfrm>
              <a:custGeom>
                <a:avLst/>
                <a:gdLst/>
                <a:ahLst/>
                <a:cxnLst/>
                <a:rect r="r" b="b" t="t" l="l"/>
                <a:pathLst>
                  <a:path h="575056" w="651057">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a:srgbClr val="FFFFFF"/>
              </a:solidFill>
              <a:ln w="53907" cap="sq">
                <a:solidFill>
                  <a:srgbClr val="FFB81C"/>
                </a:solidFill>
                <a:prstDash val="solid"/>
                <a:miter/>
              </a:ln>
            </p:spPr>
          </p:sp>
        </p:grpSp>
        <p:grpSp>
          <p:nvGrpSpPr>
            <p:cNvPr name="Group 41" id="41"/>
            <p:cNvGrpSpPr/>
            <p:nvPr/>
          </p:nvGrpSpPr>
          <p:grpSpPr>
            <a:xfrm rot="0">
              <a:off x="528946" y="5176790"/>
              <a:ext cx="651007" cy="575005"/>
              <a:chOff x="0" y="0"/>
              <a:chExt cx="651007" cy="575005"/>
            </a:xfrm>
          </p:grpSpPr>
          <p:sp>
            <p:nvSpPr>
              <p:cNvPr name="Freeform 42" id="42"/>
              <p:cNvSpPr/>
              <p:nvPr/>
            </p:nvSpPr>
            <p:spPr>
              <a:xfrm flipH="false" flipV="false" rot="0">
                <a:off x="0" y="0"/>
                <a:ext cx="651057" cy="575056"/>
              </a:xfrm>
              <a:custGeom>
                <a:avLst/>
                <a:gdLst/>
                <a:ahLst/>
                <a:cxnLst/>
                <a:rect r="r" b="b" t="t" l="l"/>
                <a:pathLst>
                  <a:path h="575056" w="651057">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a:srgbClr val="FFFFFF"/>
              </a:solidFill>
              <a:ln w="53907" cap="sq">
                <a:solidFill>
                  <a:srgbClr val="FFB81C"/>
                </a:solidFill>
                <a:prstDash val="solid"/>
                <a:miter/>
              </a:ln>
            </p:spPr>
          </p:sp>
        </p:grpSp>
        <p:grpSp>
          <p:nvGrpSpPr>
            <p:cNvPr name="Group 43" id="43"/>
            <p:cNvGrpSpPr/>
            <p:nvPr/>
          </p:nvGrpSpPr>
          <p:grpSpPr>
            <a:xfrm rot="0">
              <a:off x="528946" y="6614303"/>
              <a:ext cx="651007" cy="575005"/>
              <a:chOff x="0" y="0"/>
              <a:chExt cx="651007" cy="575005"/>
            </a:xfrm>
          </p:grpSpPr>
          <p:sp>
            <p:nvSpPr>
              <p:cNvPr name="Freeform 44" id="44"/>
              <p:cNvSpPr/>
              <p:nvPr/>
            </p:nvSpPr>
            <p:spPr>
              <a:xfrm flipH="false" flipV="false" rot="0">
                <a:off x="0" y="0"/>
                <a:ext cx="651057" cy="575056"/>
              </a:xfrm>
              <a:custGeom>
                <a:avLst/>
                <a:gdLst/>
                <a:ahLst/>
                <a:cxnLst/>
                <a:rect r="r" b="b" t="t" l="l"/>
                <a:pathLst>
                  <a:path h="575056" w="651057">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a:srgbClr val="FFFFFF"/>
              </a:solidFill>
              <a:ln w="53907" cap="sq">
                <a:solidFill>
                  <a:srgbClr val="FFB81C"/>
                </a:solidFill>
                <a:prstDash val="solid"/>
                <a:miter/>
              </a:ln>
            </p:spPr>
          </p:sp>
        </p:grpSp>
        <p:grpSp>
          <p:nvGrpSpPr>
            <p:cNvPr name="Group 45" id="45"/>
            <p:cNvGrpSpPr/>
            <p:nvPr/>
          </p:nvGrpSpPr>
          <p:grpSpPr>
            <a:xfrm rot="0">
              <a:off x="528946" y="8051828"/>
              <a:ext cx="651007" cy="575005"/>
              <a:chOff x="0" y="0"/>
              <a:chExt cx="651007" cy="575005"/>
            </a:xfrm>
          </p:grpSpPr>
          <p:sp>
            <p:nvSpPr>
              <p:cNvPr name="Freeform 46" id="46"/>
              <p:cNvSpPr/>
              <p:nvPr/>
            </p:nvSpPr>
            <p:spPr>
              <a:xfrm flipH="false" flipV="false" rot="0">
                <a:off x="0" y="0"/>
                <a:ext cx="651057" cy="575056"/>
              </a:xfrm>
              <a:custGeom>
                <a:avLst/>
                <a:gdLst/>
                <a:ahLst/>
                <a:cxnLst/>
                <a:rect r="r" b="b" t="t" l="l"/>
                <a:pathLst>
                  <a:path h="575056" w="651057">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a:srgbClr val="FFFFFF"/>
              </a:solidFill>
              <a:ln w="53907" cap="sq">
                <a:solidFill>
                  <a:srgbClr val="FFB81C"/>
                </a:solidFill>
                <a:prstDash val="solid"/>
                <a:miter/>
              </a:ln>
            </p:spPr>
          </p:sp>
        </p:grpSp>
        <p:sp>
          <p:nvSpPr>
            <p:cNvPr name="TextBox 47" id="47"/>
            <p:cNvSpPr txBox="true"/>
            <p:nvPr/>
          </p:nvSpPr>
          <p:spPr>
            <a:xfrm rot="0">
              <a:off x="1546148" y="1923316"/>
              <a:ext cx="7242470" cy="552450"/>
            </a:xfrm>
            <a:prstGeom prst="rect">
              <a:avLst/>
            </a:prstGeom>
          </p:spPr>
          <p:txBody>
            <a:bodyPr anchor="t" rtlCol="false" tIns="0" lIns="0" bIns="0" rIns="0">
              <a:spAutoFit/>
            </a:bodyPr>
            <a:lstStyle/>
            <a:p>
              <a:pPr algn="l">
                <a:lnSpc>
                  <a:spcPts val="3208"/>
                </a:lnSpc>
              </a:pPr>
              <a:r>
                <a:rPr lang="en-US" sz="2674" b="true">
                  <a:solidFill>
                    <a:srgbClr val="FFB81C"/>
                  </a:solidFill>
                  <a:latin typeface="Georgia Bold"/>
                  <a:ea typeface="Georgia Bold"/>
                  <a:cs typeface="Georgia Bold"/>
                  <a:sym typeface="Georgia Bold"/>
                </a:rPr>
                <a:t>Oct 24, 2026</a:t>
              </a:r>
            </a:p>
          </p:txBody>
        </p:sp>
        <p:sp>
          <p:nvSpPr>
            <p:cNvPr name="TextBox 48" id="48"/>
            <p:cNvSpPr txBox="true"/>
            <p:nvPr/>
          </p:nvSpPr>
          <p:spPr>
            <a:xfrm rot="0">
              <a:off x="1546148" y="2534262"/>
              <a:ext cx="7242470" cy="501650"/>
            </a:xfrm>
            <a:prstGeom prst="rect">
              <a:avLst/>
            </a:prstGeom>
          </p:spPr>
          <p:txBody>
            <a:bodyPr anchor="t" rtlCol="false" tIns="0" lIns="0" bIns="0" rIns="0">
              <a:spAutoFit/>
            </a:bodyPr>
            <a:lstStyle/>
            <a:p>
              <a:pPr algn="l">
                <a:lnSpc>
                  <a:spcPts val="2903"/>
                </a:lnSpc>
              </a:pPr>
              <a:r>
                <a:rPr lang="en-US" sz="2419">
                  <a:solidFill>
                    <a:srgbClr val="FFFFFF"/>
                  </a:solidFill>
                  <a:latin typeface="Arial"/>
                  <a:ea typeface="Arial"/>
                  <a:cs typeface="Arial"/>
                  <a:sym typeface="Arial"/>
                </a:rPr>
                <a:t>Abstract registration</a:t>
              </a:r>
            </a:p>
          </p:txBody>
        </p:sp>
        <p:sp>
          <p:nvSpPr>
            <p:cNvPr name="TextBox 49" id="49"/>
            <p:cNvSpPr txBox="true"/>
            <p:nvPr/>
          </p:nvSpPr>
          <p:spPr>
            <a:xfrm rot="0">
              <a:off x="1546148" y="3360842"/>
              <a:ext cx="7242470" cy="552450"/>
            </a:xfrm>
            <a:prstGeom prst="rect">
              <a:avLst/>
            </a:prstGeom>
          </p:spPr>
          <p:txBody>
            <a:bodyPr anchor="t" rtlCol="false" tIns="0" lIns="0" bIns="0" rIns="0">
              <a:spAutoFit/>
            </a:bodyPr>
            <a:lstStyle/>
            <a:p>
              <a:pPr algn="l">
                <a:lnSpc>
                  <a:spcPts val="3208"/>
                </a:lnSpc>
              </a:pPr>
              <a:r>
                <a:rPr lang="en-US" sz="2674" b="true">
                  <a:solidFill>
                    <a:srgbClr val="FFB81C"/>
                  </a:solidFill>
                  <a:latin typeface="Georgia Bold"/>
                  <a:ea typeface="Georgia Bold"/>
                  <a:cs typeface="Georgia Bold"/>
                  <a:sym typeface="Georgia Bold"/>
                </a:rPr>
                <a:t>Oct 31, 2026</a:t>
              </a:r>
            </a:p>
          </p:txBody>
        </p:sp>
        <p:sp>
          <p:nvSpPr>
            <p:cNvPr name="TextBox 50" id="50"/>
            <p:cNvSpPr txBox="true"/>
            <p:nvPr/>
          </p:nvSpPr>
          <p:spPr>
            <a:xfrm rot="0">
              <a:off x="1546148" y="3971788"/>
              <a:ext cx="7242470" cy="501650"/>
            </a:xfrm>
            <a:prstGeom prst="rect">
              <a:avLst/>
            </a:prstGeom>
          </p:spPr>
          <p:txBody>
            <a:bodyPr anchor="t" rtlCol="false" tIns="0" lIns="0" bIns="0" rIns="0">
              <a:spAutoFit/>
            </a:bodyPr>
            <a:lstStyle/>
            <a:p>
              <a:pPr algn="l">
                <a:lnSpc>
                  <a:spcPts val="2903"/>
                </a:lnSpc>
              </a:pPr>
              <a:r>
                <a:rPr lang="en-US" sz="2419">
                  <a:solidFill>
                    <a:srgbClr val="FFFFFF"/>
                  </a:solidFill>
                  <a:latin typeface="Arial"/>
                  <a:ea typeface="Arial"/>
                  <a:cs typeface="Arial"/>
                  <a:sym typeface="Arial"/>
                </a:rPr>
                <a:t>Paper submission</a:t>
              </a:r>
            </a:p>
          </p:txBody>
        </p:sp>
        <p:sp>
          <p:nvSpPr>
            <p:cNvPr name="TextBox 51" id="51"/>
            <p:cNvSpPr txBox="true"/>
            <p:nvPr/>
          </p:nvSpPr>
          <p:spPr>
            <a:xfrm rot="0">
              <a:off x="1546148" y="4798355"/>
              <a:ext cx="7242470" cy="552450"/>
            </a:xfrm>
            <a:prstGeom prst="rect">
              <a:avLst/>
            </a:prstGeom>
          </p:spPr>
          <p:txBody>
            <a:bodyPr anchor="t" rtlCol="false" tIns="0" lIns="0" bIns="0" rIns="0">
              <a:spAutoFit/>
            </a:bodyPr>
            <a:lstStyle/>
            <a:p>
              <a:pPr algn="l">
                <a:lnSpc>
                  <a:spcPts val="3208"/>
                </a:lnSpc>
              </a:pPr>
              <a:r>
                <a:rPr lang="en-US" sz="2674" b="true">
                  <a:solidFill>
                    <a:srgbClr val="FFB81C"/>
                  </a:solidFill>
                  <a:latin typeface="Georgia Bold"/>
                  <a:ea typeface="Georgia Bold"/>
                  <a:cs typeface="Georgia Bold"/>
                  <a:sym typeface="Georgia Bold"/>
                </a:rPr>
                <a:t>Dec 31, 2026</a:t>
              </a:r>
            </a:p>
          </p:txBody>
        </p:sp>
        <p:sp>
          <p:nvSpPr>
            <p:cNvPr name="TextBox 52" id="52"/>
            <p:cNvSpPr txBox="true"/>
            <p:nvPr/>
          </p:nvSpPr>
          <p:spPr>
            <a:xfrm rot="0">
              <a:off x="1546148" y="5409301"/>
              <a:ext cx="7242470" cy="501650"/>
            </a:xfrm>
            <a:prstGeom prst="rect">
              <a:avLst/>
            </a:prstGeom>
          </p:spPr>
          <p:txBody>
            <a:bodyPr anchor="t" rtlCol="false" tIns="0" lIns="0" bIns="0" rIns="0">
              <a:spAutoFit/>
            </a:bodyPr>
            <a:lstStyle/>
            <a:p>
              <a:pPr algn="l">
                <a:lnSpc>
                  <a:spcPts val="2903"/>
                </a:lnSpc>
              </a:pPr>
              <a:r>
                <a:rPr lang="en-US" sz="2419">
                  <a:solidFill>
                    <a:srgbClr val="FFFFFF"/>
                  </a:solidFill>
                  <a:latin typeface="Arial"/>
                  <a:ea typeface="Arial"/>
                  <a:cs typeface="Arial"/>
                  <a:sym typeface="Arial"/>
                </a:rPr>
                <a:t>Acceptance notification</a:t>
              </a:r>
            </a:p>
          </p:txBody>
        </p:sp>
        <p:sp>
          <p:nvSpPr>
            <p:cNvPr name="TextBox 53" id="53"/>
            <p:cNvSpPr txBox="true"/>
            <p:nvPr/>
          </p:nvSpPr>
          <p:spPr>
            <a:xfrm rot="0">
              <a:off x="1546148" y="6235881"/>
              <a:ext cx="7242470" cy="552450"/>
            </a:xfrm>
            <a:prstGeom prst="rect">
              <a:avLst/>
            </a:prstGeom>
          </p:spPr>
          <p:txBody>
            <a:bodyPr anchor="t" rtlCol="false" tIns="0" lIns="0" bIns="0" rIns="0">
              <a:spAutoFit/>
            </a:bodyPr>
            <a:lstStyle/>
            <a:p>
              <a:pPr algn="l">
                <a:lnSpc>
                  <a:spcPts val="3208"/>
                </a:lnSpc>
              </a:pPr>
              <a:r>
                <a:rPr lang="en-US" sz="2674" b="true">
                  <a:solidFill>
                    <a:srgbClr val="FFB81C"/>
                  </a:solidFill>
                  <a:latin typeface="Georgia Bold"/>
                  <a:ea typeface="Georgia Bold"/>
                  <a:cs typeface="Georgia Bold"/>
                  <a:sym typeface="Georgia Bold"/>
                </a:rPr>
                <a:t>Feb 28, 2027</a:t>
              </a:r>
            </a:p>
          </p:txBody>
        </p:sp>
        <p:sp>
          <p:nvSpPr>
            <p:cNvPr name="TextBox 54" id="54"/>
            <p:cNvSpPr txBox="true"/>
            <p:nvPr/>
          </p:nvSpPr>
          <p:spPr>
            <a:xfrm rot="0">
              <a:off x="1546148" y="6846827"/>
              <a:ext cx="7242470" cy="501650"/>
            </a:xfrm>
            <a:prstGeom prst="rect">
              <a:avLst/>
            </a:prstGeom>
          </p:spPr>
          <p:txBody>
            <a:bodyPr anchor="t" rtlCol="false" tIns="0" lIns="0" bIns="0" rIns="0">
              <a:spAutoFit/>
            </a:bodyPr>
            <a:lstStyle/>
            <a:p>
              <a:pPr algn="l">
                <a:lnSpc>
                  <a:spcPts val="2903"/>
                </a:lnSpc>
              </a:pPr>
              <a:r>
                <a:rPr lang="en-US" sz="2419">
                  <a:solidFill>
                    <a:srgbClr val="FFFFFF"/>
                  </a:solidFill>
                  <a:latin typeface="Arial"/>
                  <a:ea typeface="Arial"/>
                  <a:cs typeface="Arial"/>
                  <a:sym typeface="Arial"/>
                </a:rPr>
                <a:t>Camera-ready manuscript</a:t>
              </a:r>
            </a:p>
          </p:txBody>
        </p:sp>
        <p:sp>
          <p:nvSpPr>
            <p:cNvPr name="TextBox 55" id="55"/>
            <p:cNvSpPr txBox="true"/>
            <p:nvPr/>
          </p:nvSpPr>
          <p:spPr>
            <a:xfrm rot="0">
              <a:off x="1546148" y="7673394"/>
              <a:ext cx="7242470" cy="552450"/>
            </a:xfrm>
            <a:prstGeom prst="rect">
              <a:avLst/>
            </a:prstGeom>
          </p:spPr>
          <p:txBody>
            <a:bodyPr anchor="t" rtlCol="false" tIns="0" lIns="0" bIns="0" rIns="0">
              <a:spAutoFit/>
            </a:bodyPr>
            <a:lstStyle/>
            <a:p>
              <a:pPr algn="l">
                <a:lnSpc>
                  <a:spcPts val="3208"/>
                </a:lnSpc>
              </a:pPr>
              <a:r>
                <a:rPr lang="en-US" sz="2674" b="true">
                  <a:solidFill>
                    <a:srgbClr val="FFB81C"/>
                  </a:solidFill>
                  <a:latin typeface="Georgia Bold"/>
                  <a:ea typeface="Georgia Bold"/>
                  <a:cs typeface="Georgia Bold"/>
                  <a:sym typeface="Georgia Bold"/>
                </a:rPr>
                <a:t>Mar 7-9, 2027</a:t>
              </a:r>
            </a:p>
          </p:txBody>
        </p:sp>
        <p:sp>
          <p:nvSpPr>
            <p:cNvPr name="TextBox 56" id="56"/>
            <p:cNvSpPr txBox="true"/>
            <p:nvPr/>
          </p:nvSpPr>
          <p:spPr>
            <a:xfrm rot="0">
              <a:off x="1546148" y="8284340"/>
              <a:ext cx="7242470" cy="501650"/>
            </a:xfrm>
            <a:prstGeom prst="rect">
              <a:avLst/>
            </a:prstGeom>
          </p:spPr>
          <p:txBody>
            <a:bodyPr anchor="t" rtlCol="false" tIns="0" lIns="0" bIns="0" rIns="0">
              <a:spAutoFit/>
            </a:bodyPr>
            <a:lstStyle/>
            <a:p>
              <a:pPr algn="l">
                <a:lnSpc>
                  <a:spcPts val="2903"/>
                </a:lnSpc>
              </a:pPr>
              <a:r>
                <a:rPr lang="en-US" sz="2419">
                  <a:solidFill>
                    <a:srgbClr val="FFFFFF"/>
                  </a:solidFill>
                  <a:latin typeface="Arial"/>
                  <a:ea typeface="Arial"/>
                  <a:cs typeface="Arial"/>
                  <a:sym typeface="Arial"/>
                </a:rPr>
                <a:t>Conference • Washington, DC</a:t>
              </a:r>
            </a:p>
          </p:txBody>
        </p:sp>
      </p:grpSp>
      <p:grpSp>
        <p:nvGrpSpPr>
          <p:cNvPr name="Group 57" id="57"/>
          <p:cNvGrpSpPr/>
          <p:nvPr/>
        </p:nvGrpSpPr>
        <p:grpSpPr>
          <a:xfrm rot="0">
            <a:off x="791316" y="6691351"/>
            <a:ext cx="7140755" cy="7389076"/>
            <a:chOff x="0" y="0"/>
            <a:chExt cx="9521007" cy="9852101"/>
          </a:xfrm>
        </p:grpSpPr>
        <p:grpSp>
          <p:nvGrpSpPr>
            <p:cNvPr name="Group 58" id="58"/>
            <p:cNvGrpSpPr/>
            <p:nvPr/>
          </p:nvGrpSpPr>
          <p:grpSpPr>
            <a:xfrm rot="0">
              <a:off x="63161" y="107823"/>
              <a:ext cx="163287" cy="754698"/>
              <a:chOff x="0" y="0"/>
              <a:chExt cx="163287" cy="754698"/>
            </a:xfrm>
          </p:grpSpPr>
          <p:sp>
            <p:nvSpPr>
              <p:cNvPr name="Freeform 59" id="59"/>
              <p:cNvSpPr/>
              <p:nvPr/>
            </p:nvSpPr>
            <p:spPr>
              <a:xfrm flipH="false" flipV="false" rot="0">
                <a:off x="0" y="0"/>
                <a:ext cx="163183" cy="754634"/>
              </a:xfrm>
              <a:custGeom>
                <a:avLst/>
                <a:gdLst/>
                <a:ahLst/>
                <a:cxnLst/>
                <a:rect r="r" b="b" t="t" l="l"/>
                <a:pathLst>
                  <a:path h="754634" w="163183">
                    <a:moveTo>
                      <a:pt x="0" y="89789"/>
                    </a:moveTo>
                    <a:cubicBezTo>
                      <a:pt x="0" y="40259"/>
                      <a:pt x="36584" y="0"/>
                      <a:pt x="81592" y="0"/>
                    </a:cubicBezTo>
                    <a:cubicBezTo>
                      <a:pt x="126600" y="0"/>
                      <a:pt x="163183" y="40259"/>
                      <a:pt x="163183" y="89789"/>
                    </a:cubicBezTo>
                    <a:lnTo>
                      <a:pt x="163183" y="664845"/>
                    </a:lnTo>
                    <a:cubicBezTo>
                      <a:pt x="163183" y="714502"/>
                      <a:pt x="126600" y="754634"/>
                      <a:pt x="81592" y="754634"/>
                    </a:cubicBezTo>
                    <a:cubicBezTo>
                      <a:pt x="36584" y="754634"/>
                      <a:pt x="0" y="714502"/>
                      <a:pt x="0" y="664845"/>
                    </a:cubicBezTo>
                    <a:close/>
                  </a:path>
                </a:pathLst>
              </a:custGeom>
              <a:solidFill>
                <a:srgbClr val="FFB81C"/>
              </a:solidFill>
            </p:spPr>
          </p:sp>
        </p:grpSp>
        <p:grpSp>
          <p:nvGrpSpPr>
            <p:cNvPr name="Group 60" id="60"/>
            <p:cNvGrpSpPr/>
            <p:nvPr/>
          </p:nvGrpSpPr>
          <p:grpSpPr>
            <a:xfrm rot="0">
              <a:off x="487703" y="0"/>
              <a:ext cx="7217198" cy="1064984"/>
              <a:chOff x="0" y="0"/>
              <a:chExt cx="7217198" cy="1064984"/>
            </a:xfrm>
          </p:grpSpPr>
          <p:sp>
            <p:nvSpPr>
              <p:cNvPr name="Freeform 61" id="61"/>
              <p:cNvSpPr/>
              <p:nvPr/>
            </p:nvSpPr>
            <p:spPr>
              <a:xfrm flipH="false" flipV="false" rot="0">
                <a:off x="0" y="0"/>
                <a:ext cx="7217199" cy="1064984"/>
              </a:xfrm>
              <a:custGeom>
                <a:avLst/>
                <a:gdLst/>
                <a:ahLst/>
                <a:cxnLst/>
                <a:rect r="r" b="b" t="t" l="l"/>
                <a:pathLst>
                  <a:path h="1064984" w="7217199">
                    <a:moveTo>
                      <a:pt x="0" y="0"/>
                    </a:moveTo>
                    <a:lnTo>
                      <a:pt x="7217199" y="0"/>
                    </a:lnTo>
                    <a:lnTo>
                      <a:pt x="7217199" y="1064984"/>
                    </a:lnTo>
                    <a:lnTo>
                      <a:pt x="0" y="1064984"/>
                    </a:lnTo>
                    <a:close/>
                  </a:path>
                </a:pathLst>
              </a:custGeom>
              <a:blipFill>
                <a:blip r:embed="rId5">
                  <a:alphaModFix amt="0"/>
                </a:blip>
                <a:stretch>
                  <a:fillRect l="0" t="-96382" r="-10046" b="-94243"/>
                </a:stretch>
              </a:blipFill>
            </p:spPr>
          </p:sp>
          <p:sp>
            <p:nvSpPr>
              <p:cNvPr name="TextBox 62" id="62"/>
              <p:cNvSpPr txBox="true"/>
              <p:nvPr/>
            </p:nvSpPr>
            <p:spPr>
              <a:xfrm>
                <a:off x="0" y="-9525"/>
                <a:ext cx="7217198" cy="1074509"/>
              </a:xfrm>
              <a:prstGeom prst="rect">
                <a:avLst/>
              </a:prstGeom>
            </p:spPr>
            <p:txBody>
              <a:bodyPr anchor="ctr" rtlCol="false" tIns="0" lIns="0" bIns="0" rIns="0"/>
              <a:lstStyle/>
              <a:p>
                <a:pPr algn="l">
                  <a:lnSpc>
                    <a:spcPts val="5093"/>
                  </a:lnSpc>
                </a:pPr>
                <a:r>
                  <a:rPr lang="en-US" sz="4244" b="true">
                    <a:solidFill>
                      <a:srgbClr val="003594"/>
                    </a:solidFill>
                    <a:latin typeface="Georgia Bold"/>
                    <a:ea typeface="Georgia Bold"/>
                    <a:cs typeface="Georgia Bold"/>
                    <a:sym typeface="Georgia Bold"/>
                  </a:rPr>
                  <a:t>Track Chairs</a:t>
                </a:r>
              </a:p>
            </p:txBody>
          </p:sp>
        </p:grpSp>
        <p:grpSp>
          <p:nvGrpSpPr>
            <p:cNvPr name="Group 63" id="63"/>
            <p:cNvGrpSpPr/>
            <p:nvPr/>
          </p:nvGrpSpPr>
          <p:grpSpPr>
            <a:xfrm rot="0">
              <a:off x="487703" y="970331"/>
              <a:ext cx="7217198" cy="53912"/>
              <a:chOff x="0" y="0"/>
              <a:chExt cx="7217198" cy="53912"/>
            </a:xfrm>
          </p:grpSpPr>
          <p:sp>
            <p:nvSpPr>
              <p:cNvPr name="Freeform 64" id="64"/>
              <p:cNvSpPr/>
              <p:nvPr/>
            </p:nvSpPr>
            <p:spPr>
              <a:xfrm flipH="false" flipV="false" rot="0">
                <a:off x="0" y="0"/>
                <a:ext cx="7217236" cy="53848"/>
              </a:xfrm>
              <a:custGeom>
                <a:avLst/>
                <a:gdLst/>
                <a:ahLst/>
                <a:cxnLst/>
                <a:rect r="r" b="b" t="t" l="l"/>
                <a:pathLst>
                  <a:path h="53848" w="7217236">
                    <a:moveTo>
                      <a:pt x="0" y="0"/>
                    </a:moveTo>
                    <a:lnTo>
                      <a:pt x="7217236" y="0"/>
                    </a:lnTo>
                    <a:lnTo>
                      <a:pt x="7217236" y="53848"/>
                    </a:lnTo>
                    <a:lnTo>
                      <a:pt x="0" y="53848"/>
                    </a:lnTo>
                    <a:close/>
                  </a:path>
                </a:pathLst>
              </a:custGeom>
              <a:solidFill>
                <a:srgbClr val="D5DFEA"/>
              </a:solidFill>
            </p:spPr>
          </p:sp>
        </p:grpSp>
        <p:sp>
          <p:nvSpPr>
            <p:cNvPr name="TextBox 65" id="65"/>
            <p:cNvSpPr txBox="true"/>
            <p:nvPr/>
          </p:nvSpPr>
          <p:spPr>
            <a:xfrm rot="0">
              <a:off x="0" y="1223734"/>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Ahmad P. Tafti, PhD, FAMIA</a:t>
              </a:r>
            </a:p>
          </p:txBody>
        </p:sp>
        <p:sp>
          <p:nvSpPr>
            <p:cNvPr name="TextBox 66" id="66"/>
            <p:cNvSpPr txBox="true"/>
            <p:nvPr/>
          </p:nvSpPr>
          <p:spPr>
            <a:xfrm rot="0">
              <a:off x="0" y="1815347"/>
              <a:ext cx="9521007" cy="500044"/>
            </a:xfrm>
            <a:prstGeom prst="rect">
              <a:avLst/>
            </a:prstGeom>
          </p:spPr>
          <p:txBody>
            <a:bodyPr anchor="t" rtlCol="false" tIns="0" lIns="0" bIns="0" rIns="0">
              <a:spAutoFit/>
            </a:bodyPr>
            <a:lstStyle/>
            <a:p>
              <a:pPr algn="l">
                <a:lnSpc>
                  <a:spcPts val="2919"/>
                </a:lnSpc>
              </a:pPr>
              <a:r>
                <a:rPr lang="en-US" sz="2432">
                  <a:solidFill>
                    <a:srgbClr val="54647A"/>
                  </a:solidFill>
                  <a:latin typeface="Arial"/>
                  <a:ea typeface="Arial"/>
                  <a:cs typeface="Arial"/>
                  <a:sym typeface="Arial"/>
                </a:rPr>
                <a:t>University of Pittsburgh · tafti.ahmad@pitt.edu</a:t>
              </a:r>
            </a:p>
          </p:txBody>
        </p:sp>
        <p:sp>
          <p:nvSpPr>
            <p:cNvPr name="TextBox 67" id="67"/>
            <p:cNvSpPr txBox="true"/>
            <p:nvPr/>
          </p:nvSpPr>
          <p:spPr>
            <a:xfrm rot="0">
              <a:off x="0" y="2737159"/>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Yanshan Wang, PhD, FAMIA</a:t>
              </a:r>
            </a:p>
          </p:txBody>
        </p:sp>
        <p:sp>
          <p:nvSpPr>
            <p:cNvPr name="TextBox 68" id="68"/>
            <p:cNvSpPr txBox="true"/>
            <p:nvPr/>
          </p:nvSpPr>
          <p:spPr>
            <a:xfrm rot="0">
              <a:off x="0" y="3328757"/>
              <a:ext cx="9521007" cy="500044"/>
            </a:xfrm>
            <a:prstGeom prst="rect">
              <a:avLst/>
            </a:prstGeom>
          </p:spPr>
          <p:txBody>
            <a:bodyPr anchor="t" rtlCol="false" tIns="0" lIns="0" bIns="0" rIns="0">
              <a:spAutoFit/>
            </a:bodyPr>
            <a:lstStyle/>
            <a:p>
              <a:pPr algn="l">
                <a:lnSpc>
                  <a:spcPts val="2919"/>
                </a:lnSpc>
              </a:pPr>
              <a:r>
                <a:rPr lang="en-US" sz="2432">
                  <a:solidFill>
                    <a:srgbClr val="54647A"/>
                  </a:solidFill>
                  <a:latin typeface="Arial"/>
                  <a:ea typeface="Arial"/>
                  <a:cs typeface="Arial"/>
                  <a:sym typeface="Arial"/>
                </a:rPr>
                <a:t>University of Pittsburgh · yanshan.wang@pitt.edu</a:t>
              </a:r>
            </a:p>
          </p:txBody>
        </p:sp>
        <p:sp>
          <p:nvSpPr>
            <p:cNvPr name="TextBox 69" id="69"/>
            <p:cNvSpPr txBox="true"/>
            <p:nvPr/>
          </p:nvSpPr>
          <p:spPr>
            <a:xfrm rot="0">
              <a:off x="0" y="4250569"/>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Shyam Visweswaran, MD, PhD</a:t>
              </a:r>
            </a:p>
          </p:txBody>
        </p:sp>
        <p:sp>
          <p:nvSpPr>
            <p:cNvPr name="TextBox 70" id="70"/>
            <p:cNvSpPr txBox="true"/>
            <p:nvPr/>
          </p:nvSpPr>
          <p:spPr>
            <a:xfrm rot="0">
              <a:off x="0" y="4842182"/>
              <a:ext cx="9521007" cy="500044"/>
            </a:xfrm>
            <a:prstGeom prst="rect">
              <a:avLst/>
            </a:prstGeom>
          </p:spPr>
          <p:txBody>
            <a:bodyPr anchor="t" rtlCol="false" tIns="0" lIns="0" bIns="0" rIns="0">
              <a:spAutoFit/>
            </a:bodyPr>
            <a:lstStyle/>
            <a:p>
              <a:pPr algn="l">
                <a:lnSpc>
                  <a:spcPts val="2919"/>
                </a:lnSpc>
              </a:pPr>
              <a:r>
                <a:rPr lang="en-US" sz="2432">
                  <a:solidFill>
                    <a:srgbClr val="54647A"/>
                  </a:solidFill>
                  <a:latin typeface="Arial"/>
                  <a:ea typeface="Arial"/>
                  <a:cs typeface="Arial"/>
                  <a:sym typeface="Arial"/>
                </a:rPr>
                <a:t>University of Pittsburgh · shv3@pitt.edu</a:t>
              </a:r>
            </a:p>
          </p:txBody>
        </p:sp>
        <p:sp>
          <p:nvSpPr>
            <p:cNvPr name="TextBox 71" id="71"/>
            <p:cNvSpPr txBox="true"/>
            <p:nvPr/>
          </p:nvSpPr>
          <p:spPr>
            <a:xfrm rot="0">
              <a:off x="0" y="5763995"/>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Armaghan Moemeni, PhD, SFHEA</a:t>
              </a:r>
            </a:p>
          </p:txBody>
        </p:sp>
        <p:sp>
          <p:nvSpPr>
            <p:cNvPr name="TextBox 72" id="72"/>
            <p:cNvSpPr txBox="true"/>
            <p:nvPr/>
          </p:nvSpPr>
          <p:spPr>
            <a:xfrm rot="0">
              <a:off x="0" y="6355608"/>
              <a:ext cx="9521007" cy="390525"/>
            </a:xfrm>
            <a:prstGeom prst="rect">
              <a:avLst/>
            </a:prstGeom>
          </p:spPr>
          <p:txBody>
            <a:bodyPr anchor="t" rtlCol="false" tIns="0" lIns="0" bIns="0" rIns="0">
              <a:spAutoFit/>
            </a:bodyPr>
            <a:lstStyle/>
            <a:p>
              <a:pPr algn="l">
                <a:lnSpc>
                  <a:spcPts val="2280"/>
                </a:lnSpc>
              </a:pPr>
              <a:r>
                <a:rPr lang="en-US" sz="1900">
                  <a:solidFill>
                    <a:srgbClr val="54647A"/>
                  </a:solidFill>
                  <a:latin typeface="Arial"/>
                  <a:ea typeface="Arial"/>
                  <a:cs typeface="Arial"/>
                  <a:sym typeface="Arial"/>
                </a:rPr>
                <a:t>University of Nottingham · armaghan.moemeni@nottingham.ac.uk</a:t>
              </a:r>
            </a:p>
          </p:txBody>
        </p:sp>
        <p:sp>
          <p:nvSpPr>
            <p:cNvPr name="TextBox 73" id="73"/>
            <p:cNvSpPr txBox="true"/>
            <p:nvPr/>
          </p:nvSpPr>
          <p:spPr>
            <a:xfrm rot="0">
              <a:off x="0" y="7247018"/>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Prashnna K. Gyawali, PhD</a:t>
              </a:r>
            </a:p>
          </p:txBody>
        </p:sp>
        <p:sp>
          <p:nvSpPr>
            <p:cNvPr name="TextBox 74" id="74"/>
            <p:cNvSpPr txBox="true"/>
            <p:nvPr/>
          </p:nvSpPr>
          <p:spPr>
            <a:xfrm rot="0">
              <a:off x="0" y="7838631"/>
              <a:ext cx="9521007" cy="415925"/>
            </a:xfrm>
            <a:prstGeom prst="rect">
              <a:avLst/>
            </a:prstGeom>
          </p:spPr>
          <p:txBody>
            <a:bodyPr anchor="t" rtlCol="false" tIns="0" lIns="0" bIns="0" rIns="0">
              <a:spAutoFit/>
            </a:bodyPr>
            <a:lstStyle/>
            <a:p>
              <a:pPr algn="l">
                <a:lnSpc>
                  <a:spcPts val="2465"/>
                </a:lnSpc>
              </a:pPr>
              <a:r>
                <a:rPr lang="en-US" sz="2054">
                  <a:solidFill>
                    <a:srgbClr val="54647A"/>
                  </a:solidFill>
                  <a:latin typeface="Arial"/>
                  <a:ea typeface="Arial"/>
                  <a:cs typeface="Arial"/>
                  <a:sym typeface="Arial"/>
                </a:rPr>
                <a:t>West Virginia University · prashnna.gyawali@mail.wvu.edu</a:t>
              </a:r>
            </a:p>
          </p:txBody>
        </p:sp>
        <p:sp>
          <p:nvSpPr>
            <p:cNvPr name="TextBox 75" id="75"/>
            <p:cNvSpPr txBox="true"/>
            <p:nvPr/>
          </p:nvSpPr>
          <p:spPr>
            <a:xfrm rot="0">
              <a:off x="0" y="8760444"/>
              <a:ext cx="9521007" cy="588685"/>
            </a:xfrm>
            <a:prstGeom prst="rect">
              <a:avLst/>
            </a:prstGeom>
          </p:spPr>
          <p:txBody>
            <a:bodyPr anchor="t" rtlCol="false" tIns="0" lIns="0" bIns="0" rIns="0">
              <a:spAutoFit/>
            </a:bodyPr>
            <a:lstStyle/>
            <a:p>
              <a:pPr algn="l">
                <a:lnSpc>
                  <a:spcPts val="3426"/>
                </a:lnSpc>
              </a:pPr>
              <a:r>
                <a:rPr lang="en-US" sz="2855" b="true">
                  <a:solidFill>
                    <a:srgbClr val="17233A"/>
                  </a:solidFill>
                  <a:latin typeface="Arial Bold"/>
                  <a:ea typeface="Arial Bold"/>
                  <a:cs typeface="Arial Bold"/>
                  <a:sym typeface="Arial Bold"/>
                </a:rPr>
                <a:t>Michael Strange, PhD</a:t>
              </a:r>
            </a:p>
          </p:txBody>
        </p:sp>
        <p:sp>
          <p:nvSpPr>
            <p:cNvPr name="TextBox 76" id="76"/>
            <p:cNvSpPr txBox="true"/>
            <p:nvPr/>
          </p:nvSpPr>
          <p:spPr>
            <a:xfrm rot="0">
              <a:off x="0" y="9352057"/>
              <a:ext cx="9521007" cy="500044"/>
            </a:xfrm>
            <a:prstGeom prst="rect">
              <a:avLst/>
            </a:prstGeom>
          </p:spPr>
          <p:txBody>
            <a:bodyPr anchor="t" rtlCol="false" tIns="0" lIns="0" bIns="0" rIns="0">
              <a:spAutoFit/>
            </a:bodyPr>
            <a:lstStyle/>
            <a:p>
              <a:pPr algn="l">
                <a:lnSpc>
                  <a:spcPts val="2919"/>
                </a:lnSpc>
              </a:pPr>
              <a:r>
                <a:rPr lang="en-US" sz="2432">
                  <a:solidFill>
                    <a:srgbClr val="54647A"/>
                  </a:solidFill>
                  <a:latin typeface="Arial"/>
                  <a:ea typeface="Arial"/>
                  <a:cs typeface="Arial"/>
                  <a:sym typeface="Arial"/>
                </a:rPr>
                <a:t>Malmö University · michael.strange@mau.se</a:t>
              </a:r>
            </a:p>
          </p:txBody>
        </p:sp>
      </p:grpSp>
      <p:grpSp>
        <p:nvGrpSpPr>
          <p:cNvPr name="Group 77" id="77"/>
          <p:cNvGrpSpPr/>
          <p:nvPr/>
        </p:nvGrpSpPr>
        <p:grpSpPr>
          <a:xfrm rot="0">
            <a:off x="0" y="28247235"/>
            <a:ext cx="21401056" cy="53912"/>
            <a:chOff x="0" y="0"/>
            <a:chExt cx="28534741" cy="71882"/>
          </a:xfrm>
        </p:grpSpPr>
        <p:sp>
          <p:nvSpPr>
            <p:cNvPr name="Freeform 78" id="78"/>
            <p:cNvSpPr/>
            <p:nvPr/>
          </p:nvSpPr>
          <p:spPr>
            <a:xfrm flipH="false" flipV="false" rot="0">
              <a:off x="0" y="0"/>
              <a:ext cx="28534742" cy="71882"/>
            </a:xfrm>
            <a:custGeom>
              <a:avLst/>
              <a:gdLst/>
              <a:ahLst/>
              <a:cxnLst/>
              <a:rect r="r" b="b" t="t" l="l"/>
              <a:pathLst>
                <a:path h="71882" w="28534742">
                  <a:moveTo>
                    <a:pt x="0" y="0"/>
                  </a:moveTo>
                  <a:lnTo>
                    <a:pt x="28534742" y="0"/>
                  </a:lnTo>
                  <a:lnTo>
                    <a:pt x="28534742" y="71882"/>
                  </a:lnTo>
                  <a:lnTo>
                    <a:pt x="0" y="71882"/>
                  </a:lnTo>
                  <a:close/>
                </a:path>
              </a:pathLst>
            </a:custGeom>
            <a:solidFill>
              <a:srgbClr val="FFB81C"/>
            </a:solidFill>
          </p:spPr>
        </p:sp>
      </p:grpSp>
      <p:grpSp>
        <p:nvGrpSpPr>
          <p:cNvPr name="Group 79" id="79"/>
          <p:cNvGrpSpPr/>
          <p:nvPr/>
        </p:nvGrpSpPr>
        <p:grpSpPr>
          <a:xfrm rot="0">
            <a:off x="791316" y="22108735"/>
            <a:ext cx="7140755" cy="5404171"/>
            <a:chOff x="0" y="0"/>
            <a:chExt cx="904727" cy="684704"/>
          </a:xfrm>
        </p:grpSpPr>
        <p:sp>
          <p:nvSpPr>
            <p:cNvPr name="Freeform 80" id="80"/>
            <p:cNvSpPr/>
            <p:nvPr/>
          </p:nvSpPr>
          <p:spPr>
            <a:xfrm flipH="false" flipV="false" rot="0">
              <a:off x="0" y="0"/>
              <a:ext cx="904727" cy="684704"/>
            </a:xfrm>
            <a:custGeom>
              <a:avLst/>
              <a:gdLst/>
              <a:ahLst/>
              <a:cxnLst/>
              <a:rect r="r" b="b" t="t" l="l"/>
              <a:pathLst>
                <a:path h="684704" w="904727">
                  <a:moveTo>
                    <a:pt x="42283" y="0"/>
                  </a:moveTo>
                  <a:lnTo>
                    <a:pt x="862444" y="0"/>
                  </a:lnTo>
                  <a:cubicBezTo>
                    <a:pt x="885796" y="0"/>
                    <a:pt x="904727" y="18931"/>
                    <a:pt x="904727" y="42283"/>
                  </a:cubicBezTo>
                  <a:lnTo>
                    <a:pt x="904727" y="642420"/>
                  </a:lnTo>
                  <a:cubicBezTo>
                    <a:pt x="904727" y="653634"/>
                    <a:pt x="900272" y="664389"/>
                    <a:pt x="892343" y="672319"/>
                  </a:cubicBezTo>
                  <a:cubicBezTo>
                    <a:pt x="884413" y="680249"/>
                    <a:pt x="873658" y="684704"/>
                    <a:pt x="862444" y="684704"/>
                  </a:cubicBezTo>
                  <a:lnTo>
                    <a:pt x="42283" y="684704"/>
                  </a:lnTo>
                  <a:cubicBezTo>
                    <a:pt x="18931" y="684704"/>
                    <a:pt x="0" y="665773"/>
                    <a:pt x="0" y="642420"/>
                  </a:cubicBezTo>
                  <a:lnTo>
                    <a:pt x="0" y="42283"/>
                  </a:lnTo>
                  <a:cubicBezTo>
                    <a:pt x="0" y="31069"/>
                    <a:pt x="4455" y="20314"/>
                    <a:pt x="12384" y="12384"/>
                  </a:cubicBezTo>
                  <a:cubicBezTo>
                    <a:pt x="20314" y="4455"/>
                    <a:pt x="31069" y="0"/>
                    <a:pt x="42283" y="0"/>
                  </a:cubicBezTo>
                  <a:close/>
                </a:path>
              </a:pathLst>
            </a:custGeom>
            <a:solidFill>
              <a:srgbClr val="003594"/>
            </a:solidFill>
          </p:spPr>
        </p:sp>
        <p:sp>
          <p:nvSpPr>
            <p:cNvPr name="TextBox 81" id="81"/>
            <p:cNvSpPr txBox="true"/>
            <p:nvPr/>
          </p:nvSpPr>
          <p:spPr>
            <a:xfrm>
              <a:off x="0" y="-9525"/>
              <a:ext cx="904727" cy="694229"/>
            </a:xfrm>
            <a:prstGeom prst="rect">
              <a:avLst/>
            </a:prstGeom>
          </p:spPr>
          <p:txBody>
            <a:bodyPr anchor="ctr" rtlCol="false" tIns="50800" lIns="50800" bIns="50800" rIns="50800"/>
            <a:lstStyle/>
            <a:p>
              <a:pPr algn="ctr">
                <a:lnSpc>
                  <a:spcPts val="5093"/>
                </a:lnSpc>
              </a:pPr>
            </a:p>
          </p:txBody>
        </p:sp>
      </p:grpSp>
      <p:grpSp>
        <p:nvGrpSpPr>
          <p:cNvPr name="Group 82" id="82"/>
          <p:cNvGrpSpPr/>
          <p:nvPr/>
        </p:nvGrpSpPr>
        <p:grpSpPr>
          <a:xfrm rot="0">
            <a:off x="1442426" y="23017317"/>
            <a:ext cx="6300772" cy="47625"/>
            <a:chOff x="0" y="0"/>
            <a:chExt cx="5957771" cy="45032"/>
          </a:xfrm>
        </p:grpSpPr>
        <p:sp>
          <p:nvSpPr>
            <p:cNvPr name="Freeform 83" id="83"/>
            <p:cNvSpPr/>
            <p:nvPr/>
          </p:nvSpPr>
          <p:spPr>
            <a:xfrm flipH="false" flipV="false" rot="0">
              <a:off x="0" y="0"/>
              <a:ext cx="5957767" cy="44979"/>
            </a:xfrm>
            <a:custGeom>
              <a:avLst/>
              <a:gdLst/>
              <a:ahLst/>
              <a:cxnLst/>
              <a:rect r="r" b="b" t="t" l="l"/>
              <a:pathLst>
                <a:path h="44979" w="5957767">
                  <a:moveTo>
                    <a:pt x="0" y="0"/>
                  </a:moveTo>
                  <a:lnTo>
                    <a:pt x="5957767" y="0"/>
                  </a:lnTo>
                  <a:lnTo>
                    <a:pt x="5957767" y="44979"/>
                  </a:lnTo>
                  <a:lnTo>
                    <a:pt x="0" y="44979"/>
                  </a:lnTo>
                  <a:close/>
                </a:path>
              </a:pathLst>
            </a:custGeom>
            <a:solidFill>
              <a:srgbClr val="FFB81C"/>
            </a:solidFill>
          </p:spPr>
        </p:sp>
      </p:grpSp>
      <p:grpSp>
        <p:nvGrpSpPr>
          <p:cNvPr name="Group 84" id="84"/>
          <p:cNvGrpSpPr/>
          <p:nvPr/>
        </p:nvGrpSpPr>
        <p:grpSpPr>
          <a:xfrm rot="0">
            <a:off x="1439016" y="22230662"/>
            <a:ext cx="5900208" cy="798738"/>
            <a:chOff x="0" y="0"/>
            <a:chExt cx="7866944" cy="1064984"/>
          </a:xfrm>
        </p:grpSpPr>
        <p:sp>
          <p:nvSpPr>
            <p:cNvPr name="Freeform 85" id="85"/>
            <p:cNvSpPr/>
            <p:nvPr/>
          </p:nvSpPr>
          <p:spPr>
            <a:xfrm flipH="false" flipV="false" rot="0">
              <a:off x="0" y="0"/>
              <a:ext cx="7866945" cy="1064984"/>
            </a:xfrm>
            <a:custGeom>
              <a:avLst/>
              <a:gdLst/>
              <a:ahLst/>
              <a:cxnLst/>
              <a:rect r="r" b="b" t="t" l="l"/>
              <a:pathLst>
                <a:path h="1064984" w="7866945">
                  <a:moveTo>
                    <a:pt x="0" y="0"/>
                  </a:moveTo>
                  <a:lnTo>
                    <a:pt x="7866945" y="0"/>
                  </a:lnTo>
                  <a:lnTo>
                    <a:pt x="7866945" y="1064984"/>
                  </a:lnTo>
                  <a:lnTo>
                    <a:pt x="0" y="1064984"/>
                  </a:lnTo>
                  <a:close/>
                </a:path>
              </a:pathLst>
            </a:custGeom>
            <a:blipFill>
              <a:blip r:embed="rId5">
                <a:alphaModFix amt="0"/>
              </a:blip>
              <a:stretch>
                <a:fillRect l="0" t="-250243" r="-107854" b="-248103"/>
              </a:stretch>
            </a:blipFill>
          </p:spPr>
        </p:sp>
        <p:sp>
          <p:nvSpPr>
            <p:cNvPr name="TextBox 86" id="86"/>
            <p:cNvSpPr txBox="true"/>
            <p:nvPr/>
          </p:nvSpPr>
          <p:spPr>
            <a:xfrm>
              <a:off x="0" y="-9525"/>
              <a:ext cx="7866944" cy="1074509"/>
            </a:xfrm>
            <a:prstGeom prst="rect">
              <a:avLst/>
            </a:prstGeom>
          </p:spPr>
          <p:txBody>
            <a:bodyPr anchor="ctr" rtlCol="false" tIns="0" lIns="0" bIns="0" rIns="0"/>
            <a:lstStyle/>
            <a:p>
              <a:pPr algn="l">
                <a:lnSpc>
                  <a:spcPts val="5093"/>
                </a:lnSpc>
              </a:pPr>
              <a:r>
                <a:rPr lang="en-US" b="true" sz="4244">
                  <a:solidFill>
                    <a:srgbClr val="EAF1FB"/>
                  </a:solidFill>
                  <a:latin typeface="Georgia Bold"/>
                  <a:ea typeface="Georgia Bold"/>
                  <a:cs typeface="Georgia Bold"/>
                  <a:sym typeface="Georgia Bold"/>
                </a:rPr>
                <a:t>Important Links</a:t>
              </a:r>
            </a:p>
          </p:txBody>
        </p:sp>
      </p:grpSp>
      <p:grpSp>
        <p:nvGrpSpPr>
          <p:cNvPr name="Group 87" id="87"/>
          <p:cNvGrpSpPr/>
          <p:nvPr/>
        </p:nvGrpSpPr>
        <p:grpSpPr>
          <a:xfrm rot="0">
            <a:off x="1115166" y="22347019"/>
            <a:ext cx="134769" cy="566023"/>
            <a:chOff x="0" y="0"/>
            <a:chExt cx="179692" cy="754698"/>
          </a:xfrm>
        </p:grpSpPr>
        <p:sp>
          <p:nvSpPr>
            <p:cNvPr name="Freeform 88" id="88"/>
            <p:cNvSpPr/>
            <p:nvPr/>
          </p:nvSpPr>
          <p:spPr>
            <a:xfrm flipH="false" flipV="false" rot="0">
              <a:off x="0" y="0"/>
              <a:ext cx="179578" cy="754634"/>
            </a:xfrm>
            <a:custGeom>
              <a:avLst/>
              <a:gdLst/>
              <a:ahLst/>
              <a:cxnLst/>
              <a:rect r="r" b="b" t="t" l="l"/>
              <a:pathLst>
                <a:path h="754634" w="179578">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a:srgbClr val="FFB81C"/>
            </a:solidFill>
          </p:spPr>
        </p:sp>
      </p:grpSp>
      <p:grpSp>
        <p:nvGrpSpPr>
          <p:cNvPr name="Group 89" id="89"/>
          <p:cNvGrpSpPr/>
          <p:nvPr/>
        </p:nvGrpSpPr>
        <p:grpSpPr>
          <a:xfrm rot="0">
            <a:off x="1264057" y="23143362"/>
            <a:ext cx="2749258" cy="1185953"/>
            <a:chOff x="0" y="0"/>
            <a:chExt cx="3665677" cy="1581270"/>
          </a:xfrm>
        </p:grpSpPr>
        <p:sp>
          <p:nvSpPr>
            <p:cNvPr name="Freeform 90" id="90"/>
            <p:cNvSpPr/>
            <p:nvPr/>
          </p:nvSpPr>
          <p:spPr>
            <a:xfrm flipH="false" flipV="false" rot="0">
              <a:off x="0" y="0"/>
              <a:ext cx="3665672" cy="1581276"/>
            </a:xfrm>
            <a:custGeom>
              <a:avLst/>
              <a:gdLst/>
              <a:ahLst/>
              <a:cxnLst/>
              <a:rect r="r" b="b" t="t" l="l"/>
              <a:pathLst>
                <a:path h="1581276" w="3665672">
                  <a:moveTo>
                    <a:pt x="0" y="0"/>
                  </a:moveTo>
                  <a:lnTo>
                    <a:pt x="3665672" y="0"/>
                  </a:lnTo>
                  <a:lnTo>
                    <a:pt x="3665672" y="1581276"/>
                  </a:lnTo>
                  <a:lnTo>
                    <a:pt x="0" y="1581276"/>
                  </a:lnTo>
                  <a:close/>
                </a:path>
              </a:pathLst>
            </a:custGeom>
            <a:blipFill>
              <a:blip r:embed="rId5">
                <a:alphaModFix amt="0"/>
              </a:blip>
              <a:stretch>
                <a:fillRect l="-5346" t="0" r="-5346" b="0"/>
              </a:stretch>
            </a:blipFill>
          </p:spPr>
        </p:sp>
        <p:sp>
          <p:nvSpPr>
            <p:cNvPr name="TextBox 91" id="91"/>
            <p:cNvSpPr txBox="true"/>
            <p:nvPr/>
          </p:nvSpPr>
          <p:spPr>
            <a:xfrm>
              <a:off x="0" y="-9525"/>
              <a:ext cx="3665677" cy="1590795"/>
            </a:xfrm>
            <a:prstGeom prst="rect">
              <a:avLst/>
            </a:prstGeom>
          </p:spPr>
          <p:txBody>
            <a:bodyPr anchor="ctr" rtlCol="false" tIns="0" lIns="0" bIns="0" rIns="0"/>
            <a:lstStyle/>
            <a:p>
              <a:pPr algn="ctr">
                <a:lnSpc>
                  <a:spcPts val="3310"/>
                </a:lnSpc>
              </a:pPr>
              <a:r>
                <a:rPr lang="en-US" sz="2759" b="true">
                  <a:solidFill>
                    <a:srgbClr val="FFFFFF"/>
                  </a:solidFill>
                  <a:latin typeface="Georgia Bold"/>
                  <a:ea typeface="Georgia Bold"/>
                  <a:cs typeface="Georgia Bold"/>
                  <a:sym typeface="Georgia Bold"/>
                </a:rPr>
                <a:t>REED-AI</a:t>
              </a:r>
            </a:p>
            <a:p>
              <a:pPr algn="ctr">
                <a:lnSpc>
                  <a:spcPts val="3310"/>
                </a:lnSpc>
              </a:pPr>
              <a:r>
                <a:rPr lang="en-US" sz="2759" b="true">
                  <a:solidFill>
                    <a:srgbClr val="FFFFFF"/>
                  </a:solidFill>
                  <a:latin typeface="Georgia Bold"/>
                  <a:ea typeface="Georgia Bold"/>
                  <a:cs typeface="Georgia Bold"/>
                  <a:sym typeface="Georgia Bold"/>
                </a:rPr>
                <a:t>Call for </a:t>
              </a:r>
              <a:r>
                <a:rPr lang="en-US" sz="2759" b="true">
                  <a:solidFill>
                    <a:srgbClr val="FFFFFF"/>
                  </a:solidFill>
                  <a:latin typeface="Georgia Bold"/>
                  <a:ea typeface="Georgia Bold"/>
                  <a:cs typeface="Georgia Bold"/>
                  <a:sym typeface="Georgia Bold"/>
                </a:rPr>
                <a:t>Papers</a:t>
              </a:r>
            </a:p>
          </p:txBody>
        </p:sp>
      </p:grpSp>
      <p:grpSp>
        <p:nvGrpSpPr>
          <p:cNvPr name="Group 92" id="92"/>
          <p:cNvGrpSpPr/>
          <p:nvPr/>
        </p:nvGrpSpPr>
        <p:grpSpPr>
          <a:xfrm rot="0">
            <a:off x="4705341" y="23143362"/>
            <a:ext cx="2749258" cy="1185953"/>
            <a:chOff x="0" y="0"/>
            <a:chExt cx="3665677" cy="1581270"/>
          </a:xfrm>
        </p:grpSpPr>
        <p:sp>
          <p:nvSpPr>
            <p:cNvPr name="Freeform 93" id="93"/>
            <p:cNvSpPr/>
            <p:nvPr/>
          </p:nvSpPr>
          <p:spPr>
            <a:xfrm flipH="false" flipV="false" rot="0">
              <a:off x="0" y="0"/>
              <a:ext cx="3665672" cy="1581276"/>
            </a:xfrm>
            <a:custGeom>
              <a:avLst/>
              <a:gdLst/>
              <a:ahLst/>
              <a:cxnLst/>
              <a:rect r="r" b="b" t="t" l="l"/>
              <a:pathLst>
                <a:path h="1581276" w="3665672">
                  <a:moveTo>
                    <a:pt x="0" y="0"/>
                  </a:moveTo>
                  <a:lnTo>
                    <a:pt x="3665672" y="0"/>
                  </a:lnTo>
                  <a:lnTo>
                    <a:pt x="3665672" y="1581276"/>
                  </a:lnTo>
                  <a:lnTo>
                    <a:pt x="0" y="1581276"/>
                  </a:lnTo>
                  <a:close/>
                </a:path>
              </a:pathLst>
            </a:custGeom>
            <a:blipFill>
              <a:blip r:embed="rId5">
                <a:alphaModFix amt="0"/>
              </a:blip>
              <a:stretch>
                <a:fillRect l="-5346" t="0" r="-5346" b="0"/>
              </a:stretch>
            </a:blipFill>
          </p:spPr>
        </p:sp>
        <p:sp>
          <p:nvSpPr>
            <p:cNvPr name="TextBox 94" id="94"/>
            <p:cNvSpPr txBox="true"/>
            <p:nvPr/>
          </p:nvSpPr>
          <p:spPr>
            <a:xfrm>
              <a:off x="0" y="-9525"/>
              <a:ext cx="3665677" cy="1590795"/>
            </a:xfrm>
            <a:prstGeom prst="rect">
              <a:avLst/>
            </a:prstGeom>
          </p:spPr>
          <p:txBody>
            <a:bodyPr anchor="ctr" rtlCol="false" tIns="0" lIns="0" bIns="0" rIns="0"/>
            <a:lstStyle/>
            <a:p>
              <a:pPr algn="ctr">
                <a:lnSpc>
                  <a:spcPts val="3310"/>
                </a:lnSpc>
              </a:pPr>
              <a:r>
                <a:rPr lang="en-US" sz="2759" b="true">
                  <a:solidFill>
                    <a:srgbClr val="FFFFFF"/>
                  </a:solidFill>
                  <a:latin typeface="Georgia Bold"/>
                  <a:ea typeface="Georgia Bold"/>
                  <a:cs typeface="Georgia Bold"/>
                  <a:sym typeface="Georgia Bold"/>
                </a:rPr>
                <a:t>Submission Portal</a:t>
              </a:r>
            </a:p>
          </p:txBody>
        </p:sp>
      </p:grpSp>
      <p:grpSp>
        <p:nvGrpSpPr>
          <p:cNvPr name="Group 95" id="95"/>
          <p:cNvGrpSpPr/>
          <p:nvPr/>
        </p:nvGrpSpPr>
        <p:grpSpPr>
          <a:xfrm rot="0">
            <a:off x="916419" y="28301147"/>
            <a:ext cx="14879997" cy="2050027"/>
            <a:chOff x="0" y="0"/>
            <a:chExt cx="19839996" cy="2733370"/>
          </a:xfrm>
        </p:grpSpPr>
        <p:sp>
          <p:nvSpPr>
            <p:cNvPr name="Freeform 96" id="96"/>
            <p:cNvSpPr/>
            <p:nvPr/>
          </p:nvSpPr>
          <p:spPr>
            <a:xfrm flipH="false" flipV="false" rot="0">
              <a:off x="0" y="460488"/>
              <a:ext cx="4516243" cy="1620639"/>
            </a:xfrm>
            <a:custGeom>
              <a:avLst/>
              <a:gdLst/>
              <a:ahLst/>
              <a:cxnLst/>
              <a:rect r="r" b="b" t="t" l="l"/>
              <a:pathLst>
                <a:path h="1620639" w="4516243">
                  <a:moveTo>
                    <a:pt x="0" y="0"/>
                  </a:moveTo>
                  <a:lnTo>
                    <a:pt x="4516243" y="0"/>
                  </a:lnTo>
                  <a:lnTo>
                    <a:pt x="4516243" y="1620639"/>
                  </a:lnTo>
                  <a:lnTo>
                    <a:pt x="0" y="1620639"/>
                  </a:lnTo>
                  <a:lnTo>
                    <a:pt x="0" y="0"/>
                  </a:lnTo>
                  <a:close/>
                </a:path>
              </a:pathLst>
            </a:custGeom>
            <a:blipFill>
              <a:blip r:embed="rId6"/>
              <a:stretch>
                <a:fillRect l="-2567" t="0" r="-121953" b="0"/>
              </a:stretch>
            </a:blipFill>
          </p:spPr>
        </p:sp>
        <p:sp>
          <p:nvSpPr>
            <p:cNvPr name="Freeform 97" id="97"/>
            <p:cNvSpPr/>
            <p:nvPr/>
          </p:nvSpPr>
          <p:spPr>
            <a:xfrm flipH="false" flipV="false" rot="0">
              <a:off x="5204332" y="183190"/>
              <a:ext cx="4576857" cy="2377035"/>
            </a:xfrm>
            <a:custGeom>
              <a:avLst/>
              <a:gdLst/>
              <a:ahLst/>
              <a:cxnLst/>
              <a:rect r="r" b="b" t="t" l="l"/>
              <a:pathLst>
                <a:path h="2377035" w="4576857">
                  <a:moveTo>
                    <a:pt x="0" y="0"/>
                  </a:moveTo>
                  <a:lnTo>
                    <a:pt x="4576857" y="0"/>
                  </a:lnTo>
                  <a:lnTo>
                    <a:pt x="4576857" y="2377035"/>
                  </a:lnTo>
                  <a:lnTo>
                    <a:pt x="0" y="2377035"/>
                  </a:lnTo>
                  <a:lnTo>
                    <a:pt x="0" y="0"/>
                  </a:lnTo>
                  <a:close/>
                </a:path>
              </a:pathLst>
            </a:custGeom>
            <a:blipFill>
              <a:blip r:embed="rId7"/>
              <a:stretch>
                <a:fillRect l="-23916" t="0" r="-24471" b="0"/>
              </a:stretch>
            </a:blipFill>
          </p:spPr>
        </p:sp>
        <p:sp>
          <p:nvSpPr>
            <p:cNvPr name="Freeform 98" id="98"/>
            <p:cNvSpPr/>
            <p:nvPr/>
          </p:nvSpPr>
          <p:spPr>
            <a:xfrm flipH="false" flipV="false" rot="0">
              <a:off x="10469277" y="183190"/>
              <a:ext cx="4099098" cy="2366990"/>
            </a:xfrm>
            <a:custGeom>
              <a:avLst/>
              <a:gdLst/>
              <a:ahLst/>
              <a:cxnLst/>
              <a:rect r="r" b="b" t="t" l="l"/>
              <a:pathLst>
                <a:path h="2366990" w="4099098">
                  <a:moveTo>
                    <a:pt x="0" y="0"/>
                  </a:moveTo>
                  <a:lnTo>
                    <a:pt x="4099099" y="0"/>
                  </a:lnTo>
                  <a:lnTo>
                    <a:pt x="4099099" y="2366990"/>
                  </a:lnTo>
                  <a:lnTo>
                    <a:pt x="0" y="2366990"/>
                  </a:lnTo>
                  <a:lnTo>
                    <a:pt x="0" y="0"/>
                  </a:lnTo>
                  <a:close/>
                </a:path>
              </a:pathLst>
            </a:custGeom>
            <a:blipFill>
              <a:blip r:embed="rId8"/>
              <a:stretch>
                <a:fillRect l="-2507" t="0" r="-149" b="0"/>
              </a:stretch>
            </a:blipFill>
          </p:spPr>
        </p:sp>
        <p:sp>
          <p:nvSpPr>
            <p:cNvPr name="Freeform 99" id="99"/>
            <p:cNvSpPr/>
            <p:nvPr/>
          </p:nvSpPr>
          <p:spPr>
            <a:xfrm flipH="false" flipV="false" rot="0">
              <a:off x="15160256" y="0"/>
              <a:ext cx="4679740" cy="2733370"/>
            </a:xfrm>
            <a:custGeom>
              <a:avLst/>
              <a:gdLst/>
              <a:ahLst/>
              <a:cxnLst/>
              <a:rect r="r" b="b" t="t" l="l"/>
              <a:pathLst>
                <a:path h="2733370" w="4679740">
                  <a:moveTo>
                    <a:pt x="0" y="0"/>
                  </a:moveTo>
                  <a:lnTo>
                    <a:pt x="4679740" y="0"/>
                  </a:lnTo>
                  <a:lnTo>
                    <a:pt x="4679740" y="2733370"/>
                  </a:lnTo>
                  <a:lnTo>
                    <a:pt x="0" y="2733370"/>
                  </a:lnTo>
                  <a:lnTo>
                    <a:pt x="0" y="0"/>
                  </a:lnTo>
                  <a:close/>
                </a:path>
              </a:pathLst>
            </a:custGeom>
            <a:blipFill>
              <a:blip r:embed="rId9"/>
              <a:stretch>
                <a:fillRect l="-2567" t="0" r="-2567" b="0"/>
              </a:stretch>
            </a:blipFill>
          </p:spPr>
        </p:sp>
      </p:grpSp>
      <p:grpSp>
        <p:nvGrpSpPr>
          <p:cNvPr name="Group 100" id="100"/>
          <p:cNvGrpSpPr/>
          <p:nvPr/>
        </p:nvGrpSpPr>
        <p:grpSpPr>
          <a:xfrm rot="0">
            <a:off x="8356418" y="6772208"/>
            <a:ext cx="134769" cy="566023"/>
            <a:chOff x="0" y="0"/>
            <a:chExt cx="179692" cy="754698"/>
          </a:xfrm>
        </p:grpSpPr>
        <p:sp>
          <p:nvSpPr>
            <p:cNvPr name="Freeform 101" id="101"/>
            <p:cNvSpPr/>
            <p:nvPr/>
          </p:nvSpPr>
          <p:spPr>
            <a:xfrm flipH="false" flipV="false" rot="0">
              <a:off x="0" y="0"/>
              <a:ext cx="179578" cy="754634"/>
            </a:xfrm>
            <a:custGeom>
              <a:avLst/>
              <a:gdLst/>
              <a:ahLst/>
              <a:cxnLst/>
              <a:rect r="r" b="b" t="t" l="l"/>
              <a:pathLst>
                <a:path h="754634" w="179578">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a:srgbClr val="FFB81C"/>
            </a:solidFill>
          </p:spPr>
        </p:sp>
      </p:grpSp>
      <p:grpSp>
        <p:nvGrpSpPr>
          <p:cNvPr name="Group 102" id="102"/>
          <p:cNvGrpSpPr/>
          <p:nvPr/>
        </p:nvGrpSpPr>
        <p:grpSpPr>
          <a:xfrm rot="0">
            <a:off x="8706814" y="6691351"/>
            <a:ext cx="12263828" cy="781650"/>
            <a:chOff x="0" y="0"/>
            <a:chExt cx="16351771" cy="1042200"/>
          </a:xfrm>
        </p:grpSpPr>
        <p:sp>
          <p:nvSpPr>
            <p:cNvPr name="Freeform 103" id="103"/>
            <p:cNvSpPr/>
            <p:nvPr/>
          </p:nvSpPr>
          <p:spPr>
            <a:xfrm flipH="false" flipV="false" rot="0">
              <a:off x="0" y="0"/>
              <a:ext cx="16351771" cy="1042201"/>
            </a:xfrm>
            <a:custGeom>
              <a:avLst/>
              <a:gdLst/>
              <a:ahLst/>
              <a:cxnLst/>
              <a:rect r="r" b="b" t="t" l="l"/>
              <a:pathLst>
                <a:path h="1042201" w="16351771">
                  <a:moveTo>
                    <a:pt x="0" y="0"/>
                  </a:moveTo>
                  <a:lnTo>
                    <a:pt x="16351771" y="0"/>
                  </a:lnTo>
                  <a:lnTo>
                    <a:pt x="16351771" y="1042201"/>
                  </a:lnTo>
                  <a:lnTo>
                    <a:pt x="0" y="1042201"/>
                  </a:lnTo>
                  <a:close/>
                </a:path>
              </a:pathLst>
            </a:custGeom>
            <a:blipFill>
              <a:blip r:embed="rId5">
                <a:alphaModFix amt="0"/>
              </a:blip>
              <a:stretch>
                <a:fillRect l="0" t="-255713" r="0" b="-255713"/>
              </a:stretch>
            </a:blipFill>
          </p:spPr>
        </p:sp>
        <p:sp>
          <p:nvSpPr>
            <p:cNvPr name="TextBox 104" id="104"/>
            <p:cNvSpPr txBox="true"/>
            <p:nvPr/>
          </p:nvSpPr>
          <p:spPr>
            <a:xfrm>
              <a:off x="0" y="-9525"/>
              <a:ext cx="16351771" cy="1051725"/>
            </a:xfrm>
            <a:prstGeom prst="rect">
              <a:avLst/>
            </a:prstGeom>
          </p:spPr>
          <p:txBody>
            <a:bodyPr anchor="ctr" rtlCol="false" tIns="0" lIns="0" bIns="0" rIns="0"/>
            <a:lstStyle/>
            <a:p>
              <a:pPr algn="l">
                <a:lnSpc>
                  <a:spcPts val="5093"/>
                </a:lnSpc>
              </a:pPr>
              <a:r>
                <a:rPr lang="en-US" sz="4244" b="true">
                  <a:solidFill>
                    <a:srgbClr val="003594"/>
                  </a:solidFill>
                  <a:latin typeface="Georgia Bold"/>
                  <a:ea typeface="Georgia Bold"/>
                  <a:cs typeface="Georgia Bold"/>
                  <a:sym typeface="Georgia Bold"/>
                </a:rPr>
                <a:t>Description</a:t>
              </a:r>
            </a:p>
          </p:txBody>
        </p:sp>
      </p:grpSp>
      <p:grpSp>
        <p:nvGrpSpPr>
          <p:cNvPr name="Group 105" id="105"/>
          <p:cNvGrpSpPr/>
          <p:nvPr/>
        </p:nvGrpSpPr>
        <p:grpSpPr>
          <a:xfrm rot="0">
            <a:off x="8706814" y="7419099"/>
            <a:ext cx="12263828" cy="40434"/>
            <a:chOff x="0" y="0"/>
            <a:chExt cx="16351771" cy="53912"/>
          </a:xfrm>
        </p:grpSpPr>
        <p:sp>
          <p:nvSpPr>
            <p:cNvPr name="Freeform 106" id="106"/>
            <p:cNvSpPr/>
            <p:nvPr/>
          </p:nvSpPr>
          <p:spPr>
            <a:xfrm flipH="false" flipV="false" rot="0">
              <a:off x="0" y="0"/>
              <a:ext cx="16351758" cy="53848"/>
            </a:xfrm>
            <a:custGeom>
              <a:avLst/>
              <a:gdLst/>
              <a:ahLst/>
              <a:cxnLst/>
              <a:rect r="r" b="b" t="t" l="l"/>
              <a:pathLst>
                <a:path h="53848" w="16351758">
                  <a:moveTo>
                    <a:pt x="0" y="0"/>
                  </a:moveTo>
                  <a:lnTo>
                    <a:pt x="16351758" y="0"/>
                  </a:lnTo>
                  <a:lnTo>
                    <a:pt x="16351758" y="53848"/>
                  </a:lnTo>
                  <a:lnTo>
                    <a:pt x="0" y="53848"/>
                  </a:lnTo>
                  <a:close/>
                </a:path>
              </a:pathLst>
            </a:custGeom>
            <a:solidFill>
              <a:srgbClr val="D5DFEA"/>
            </a:solidFill>
          </p:spPr>
        </p:sp>
      </p:grpSp>
      <p:grpSp>
        <p:nvGrpSpPr>
          <p:cNvPr name="Group 107" id="107"/>
          <p:cNvGrpSpPr/>
          <p:nvPr/>
        </p:nvGrpSpPr>
        <p:grpSpPr>
          <a:xfrm rot="0">
            <a:off x="8356418" y="10701566"/>
            <a:ext cx="134769" cy="566023"/>
            <a:chOff x="0" y="0"/>
            <a:chExt cx="179692" cy="754698"/>
          </a:xfrm>
        </p:grpSpPr>
        <p:sp>
          <p:nvSpPr>
            <p:cNvPr name="Freeform 108" id="108"/>
            <p:cNvSpPr/>
            <p:nvPr/>
          </p:nvSpPr>
          <p:spPr>
            <a:xfrm flipH="false" flipV="false" rot="0">
              <a:off x="0" y="0"/>
              <a:ext cx="179578" cy="754634"/>
            </a:xfrm>
            <a:custGeom>
              <a:avLst/>
              <a:gdLst/>
              <a:ahLst/>
              <a:cxnLst/>
              <a:rect r="r" b="b" t="t" l="l"/>
              <a:pathLst>
                <a:path h="754634" w="179578">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a:srgbClr val="FFB81C"/>
            </a:solidFill>
          </p:spPr>
        </p:sp>
      </p:grpSp>
      <p:grpSp>
        <p:nvGrpSpPr>
          <p:cNvPr name="Group 109" id="109"/>
          <p:cNvGrpSpPr/>
          <p:nvPr/>
        </p:nvGrpSpPr>
        <p:grpSpPr>
          <a:xfrm rot="0">
            <a:off x="8706814" y="10620708"/>
            <a:ext cx="12263828" cy="781650"/>
            <a:chOff x="0" y="0"/>
            <a:chExt cx="16351771" cy="1042200"/>
          </a:xfrm>
        </p:grpSpPr>
        <p:sp>
          <p:nvSpPr>
            <p:cNvPr name="Freeform 110" id="110"/>
            <p:cNvSpPr/>
            <p:nvPr/>
          </p:nvSpPr>
          <p:spPr>
            <a:xfrm flipH="false" flipV="false" rot="0">
              <a:off x="0" y="0"/>
              <a:ext cx="16351771" cy="1042201"/>
            </a:xfrm>
            <a:custGeom>
              <a:avLst/>
              <a:gdLst/>
              <a:ahLst/>
              <a:cxnLst/>
              <a:rect r="r" b="b" t="t" l="l"/>
              <a:pathLst>
                <a:path h="1042201" w="16351771">
                  <a:moveTo>
                    <a:pt x="0" y="0"/>
                  </a:moveTo>
                  <a:lnTo>
                    <a:pt x="16351771" y="0"/>
                  </a:lnTo>
                  <a:lnTo>
                    <a:pt x="16351771" y="1042201"/>
                  </a:lnTo>
                  <a:lnTo>
                    <a:pt x="0" y="1042201"/>
                  </a:lnTo>
                  <a:close/>
                </a:path>
              </a:pathLst>
            </a:custGeom>
            <a:blipFill>
              <a:blip r:embed="rId5">
                <a:alphaModFix amt="0"/>
              </a:blip>
              <a:stretch>
                <a:fillRect l="0" t="-255713" r="0" b="-255713"/>
              </a:stretch>
            </a:blipFill>
          </p:spPr>
        </p:sp>
        <p:sp>
          <p:nvSpPr>
            <p:cNvPr name="TextBox 111" id="111"/>
            <p:cNvSpPr txBox="true"/>
            <p:nvPr/>
          </p:nvSpPr>
          <p:spPr>
            <a:xfrm>
              <a:off x="0" y="-9525"/>
              <a:ext cx="16351771" cy="1051725"/>
            </a:xfrm>
            <a:prstGeom prst="rect">
              <a:avLst/>
            </a:prstGeom>
          </p:spPr>
          <p:txBody>
            <a:bodyPr anchor="ctr" rtlCol="false" tIns="0" lIns="0" bIns="0" rIns="0"/>
            <a:lstStyle/>
            <a:p>
              <a:pPr algn="l">
                <a:lnSpc>
                  <a:spcPts val="5093"/>
                </a:lnSpc>
              </a:pPr>
              <a:r>
                <a:rPr lang="en-US" sz="4244" b="true">
                  <a:solidFill>
                    <a:srgbClr val="003594"/>
                  </a:solidFill>
                  <a:latin typeface="Georgia Bold"/>
                  <a:ea typeface="Georgia Bold"/>
                  <a:cs typeface="Georgia Bold"/>
                  <a:sym typeface="Georgia Bold"/>
                </a:rPr>
                <a:t>Track Topics</a:t>
              </a:r>
            </a:p>
          </p:txBody>
        </p:sp>
      </p:grpSp>
      <p:grpSp>
        <p:nvGrpSpPr>
          <p:cNvPr name="Group 112" id="112"/>
          <p:cNvGrpSpPr/>
          <p:nvPr/>
        </p:nvGrpSpPr>
        <p:grpSpPr>
          <a:xfrm rot="0">
            <a:off x="8706814" y="11348457"/>
            <a:ext cx="12263828" cy="40434"/>
            <a:chOff x="0" y="0"/>
            <a:chExt cx="16351771" cy="53912"/>
          </a:xfrm>
        </p:grpSpPr>
        <p:sp>
          <p:nvSpPr>
            <p:cNvPr name="Freeform 113" id="113"/>
            <p:cNvSpPr/>
            <p:nvPr/>
          </p:nvSpPr>
          <p:spPr>
            <a:xfrm flipH="false" flipV="false" rot="0">
              <a:off x="0" y="0"/>
              <a:ext cx="16351758" cy="53848"/>
            </a:xfrm>
            <a:custGeom>
              <a:avLst/>
              <a:gdLst/>
              <a:ahLst/>
              <a:cxnLst/>
              <a:rect r="r" b="b" t="t" l="l"/>
              <a:pathLst>
                <a:path h="53848" w="16351758">
                  <a:moveTo>
                    <a:pt x="0" y="0"/>
                  </a:moveTo>
                  <a:lnTo>
                    <a:pt x="16351758" y="0"/>
                  </a:lnTo>
                  <a:lnTo>
                    <a:pt x="16351758" y="53848"/>
                  </a:lnTo>
                  <a:lnTo>
                    <a:pt x="0" y="53848"/>
                  </a:lnTo>
                  <a:close/>
                </a:path>
              </a:pathLst>
            </a:custGeom>
            <a:solidFill>
              <a:srgbClr val="D5DFEA"/>
            </a:solidFill>
          </p:spPr>
        </p:sp>
      </p:grpSp>
      <p:grpSp>
        <p:nvGrpSpPr>
          <p:cNvPr name="Group 114" id="114"/>
          <p:cNvGrpSpPr/>
          <p:nvPr/>
        </p:nvGrpSpPr>
        <p:grpSpPr>
          <a:xfrm rot="0">
            <a:off x="8679858" y="25068867"/>
            <a:ext cx="2749258" cy="916419"/>
            <a:chOff x="0" y="0"/>
            <a:chExt cx="3665677" cy="1221892"/>
          </a:xfrm>
        </p:grpSpPr>
        <p:sp>
          <p:nvSpPr>
            <p:cNvPr name="Freeform 115" id="115"/>
            <p:cNvSpPr/>
            <p:nvPr/>
          </p:nvSpPr>
          <p:spPr>
            <a:xfrm flipH="false" flipV="false" rot="0">
              <a:off x="0" y="0"/>
              <a:ext cx="3665672" cy="1221891"/>
            </a:xfrm>
            <a:custGeom>
              <a:avLst/>
              <a:gdLst/>
              <a:ahLst/>
              <a:cxnLst/>
              <a:rect r="r" b="b" t="t" l="l"/>
              <a:pathLst>
                <a:path h="1221891" w="3665672">
                  <a:moveTo>
                    <a:pt x="0" y="0"/>
                  </a:moveTo>
                  <a:lnTo>
                    <a:pt x="3665672" y="0"/>
                  </a:lnTo>
                  <a:lnTo>
                    <a:pt x="3665672" y="1221891"/>
                  </a:lnTo>
                  <a:lnTo>
                    <a:pt x="0" y="1221891"/>
                  </a:lnTo>
                  <a:close/>
                </a:path>
              </a:pathLst>
            </a:custGeom>
            <a:blipFill>
              <a:blip r:embed="rId5">
                <a:alphaModFix amt="0"/>
              </a:blip>
              <a:stretch>
                <a:fillRect l="0" t="-8455" r="0" b="-8455"/>
              </a:stretch>
            </a:blipFill>
          </p:spPr>
        </p:sp>
        <p:sp>
          <p:nvSpPr>
            <p:cNvPr name="TextBox 116" id="116"/>
            <p:cNvSpPr txBox="true"/>
            <p:nvPr/>
          </p:nvSpPr>
          <p:spPr>
            <a:xfrm>
              <a:off x="0" y="-19050"/>
              <a:ext cx="3665677" cy="1240942"/>
            </a:xfrm>
            <a:prstGeom prst="rect">
              <a:avLst/>
            </a:prstGeom>
          </p:spPr>
          <p:txBody>
            <a:bodyPr anchor="ctr" rtlCol="false" tIns="0" lIns="0" bIns="0" rIns="0"/>
            <a:lstStyle/>
            <a:p>
              <a:pPr algn="ctr">
                <a:lnSpc>
                  <a:spcPts val="2801"/>
                </a:lnSpc>
              </a:pPr>
              <a:r>
                <a:rPr lang="en-US" sz="2334">
                  <a:solidFill>
                    <a:srgbClr val="FFFFFF"/>
                  </a:solidFill>
                  <a:latin typeface="Arial"/>
                  <a:ea typeface="Arial"/>
                  <a:cs typeface="Arial"/>
                  <a:sym typeface="Arial"/>
                </a:rPr>
                <a:t>Double-blind</a:t>
              </a:r>
            </a:p>
            <a:p>
              <a:pPr algn="ctr">
                <a:lnSpc>
                  <a:spcPts val="2801"/>
                </a:lnSpc>
              </a:pPr>
              <a:r>
                <a:rPr lang="en-US" sz="2334">
                  <a:solidFill>
                    <a:srgbClr val="FFFFFF"/>
                  </a:solidFill>
                  <a:latin typeface="Arial"/>
                  <a:ea typeface="Arial"/>
                  <a:cs typeface="Arial"/>
                  <a:sym typeface="Arial"/>
                </a:rPr>
                <a:t>via Microsoft CMT</a:t>
              </a:r>
            </a:p>
          </p:txBody>
        </p:sp>
      </p:grpSp>
      <p:grpSp>
        <p:nvGrpSpPr>
          <p:cNvPr name="Group 117" id="117"/>
          <p:cNvGrpSpPr/>
          <p:nvPr/>
        </p:nvGrpSpPr>
        <p:grpSpPr>
          <a:xfrm rot="0">
            <a:off x="8356418" y="21057546"/>
            <a:ext cx="12614224" cy="6455359"/>
            <a:chOff x="0" y="0"/>
            <a:chExt cx="16818966" cy="8607146"/>
          </a:xfrm>
        </p:grpSpPr>
        <p:grpSp>
          <p:nvGrpSpPr>
            <p:cNvPr name="Group 118" id="118"/>
            <p:cNvGrpSpPr/>
            <p:nvPr/>
          </p:nvGrpSpPr>
          <p:grpSpPr>
            <a:xfrm rot="0">
              <a:off x="467195" y="0"/>
              <a:ext cx="16351771" cy="1042200"/>
              <a:chOff x="0" y="0"/>
              <a:chExt cx="16351771" cy="1042200"/>
            </a:xfrm>
          </p:grpSpPr>
          <p:sp>
            <p:nvSpPr>
              <p:cNvPr name="Freeform 119" id="119"/>
              <p:cNvSpPr/>
              <p:nvPr/>
            </p:nvSpPr>
            <p:spPr>
              <a:xfrm flipH="false" flipV="false" rot="0">
                <a:off x="0" y="0"/>
                <a:ext cx="16351771" cy="1042201"/>
              </a:xfrm>
              <a:custGeom>
                <a:avLst/>
                <a:gdLst/>
                <a:ahLst/>
                <a:cxnLst/>
                <a:rect r="r" b="b" t="t" l="l"/>
                <a:pathLst>
                  <a:path h="1042201" w="16351771">
                    <a:moveTo>
                      <a:pt x="0" y="0"/>
                    </a:moveTo>
                    <a:lnTo>
                      <a:pt x="16351771" y="0"/>
                    </a:lnTo>
                    <a:lnTo>
                      <a:pt x="16351771" y="1042201"/>
                    </a:lnTo>
                    <a:lnTo>
                      <a:pt x="0" y="1042201"/>
                    </a:lnTo>
                    <a:close/>
                  </a:path>
                </a:pathLst>
              </a:custGeom>
              <a:blipFill>
                <a:blip r:embed="rId5">
                  <a:alphaModFix amt="0"/>
                </a:blip>
                <a:stretch>
                  <a:fillRect l="0" t="-255713" r="0" b="-255713"/>
                </a:stretch>
              </a:blipFill>
            </p:spPr>
          </p:sp>
          <p:sp>
            <p:nvSpPr>
              <p:cNvPr name="TextBox 120" id="120"/>
              <p:cNvSpPr txBox="true"/>
              <p:nvPr/>
            </p:nvSpPr>
            <p:spPr>
              <a:xfrm>
                <a:off x="0" y="-9525"/>
                <a:ext cx="16351771" cy="1051725"/>
              </a:xfrm>
              <a:prstGeom prst="rect">
                <a:avLst/>
              </a:prstGeom>
            </p:spPr>
            <p:txBody>
              <a:bodyPr anchor="ctr" rtlCol="false" tIns="0" lIns="0" bIns="0" rIns="0"/>
              <a:lstStyle/>
              <a:p>
                <a:pPr algn="l">
                  <a:lnSpc>
                    <a:spcPts val="5093"/>
                  </a:lnSpc>
                </a:pPr>
                <a:r>
                  <a:rPr lang="en-US" sz="4244" b="true">
                    <a:solidFill>
                      <a:srgbClr val="003594"/>
                    </a:solidFill>
                    <a:latin typeface="Georgia Bold"/>
                    <a:ea typeface="Georgia Bold"/>
                    <a:cs typeface="Georgia Bold"/>
                    <a:sym typeface="Georgia Bold"/>
                  </a:rPr>
                  <a:t>Submission Information &amp; Instructions</a:t>
                </a:r>
              </a:p>
            </p:txBody>
          </p:sp>
        </p:grpSp>
        <p:grpSp>
          <p:nvGrpSpPr>
            <p:cNvPr name="Group 121" id="121"/>
            <p:cNvGrpSpPr/>
            <p:nvPr/>
          </p:nvGrpSpPr>
          <p:grpSpPr>
            <a:xfrm rot="0">
              <a:off x="467195" y="970331"/>
              <a:ext cx="16351771" cy="53912"/>
              <a:chOff x="0" y="0"/>
              <a:chExt cx="16351771" cy="53912"/>
            </a:xfrm>
          </p:grpSpPr>
          <p:sp>
            <p:nvSpPr>
              <p:cNvPr name="Freeform 122" id="122"/>
              <p:cNvSpPr/>
              <p:nvPr/>
            </p:nvSpPr>
            <p:spPr>
              <a:xfrm flipH="false" flipV="false" rot="0">
                <a:off x="0" y="0"/>
                <a:ext cx="16351758" cy="53848"/>
              </a:xfrm>
              <a:custGeom>
                <a:avLst/>
                <a:gdLst/>
                <a:ahLst/>
                <a:cxnLst/>
                <a:rect r="r" b="b" t="t" l="l"/>
                <a:pathLst>
                  <a:path h="53848" w="16351758">
                    <a:moveTo>
                      <a:pt x="0" y="0"/>
                    </a:moveTo>
                    <a:lnTo>
                      <a:pt x="16351758" y="0"/>
                    </a:lnTo>
                    <a:lnTo>
                      <a:pt x="16351758" y="53848"/>
                    </a:lnTo>
                    <a:lnTo>
                      <a:pt x="0" y="53848"/>
                    </a:lnTo>
                    <a:close/>
                  </a:path>
                </a:pathLst>
              </a:custGeom>
              <a:solidFill>
                <a:srgbClr val="D5DFEA"/>
              </a:solidFill>
            </p:spPr>
          </p:sp>
        </p:grpSp>
        <p:grpSp>
          <p:nvGrpSpPr>
            <p:cNvPr name="Group 123" id="123"/>
            <p:cNvGrpSpPr/>
            <p:nvPr/>
          </p:nvGrpSpPr>
          <p:grpSpPr>
            <a:xfrm rot="0">
              <a:off x="0" y="107823"/>
              <a:ext cx="179692" cy="754698"/>
              <a:chOff x="0" y="0"/>
              <a:chExt cx="179692" cy="754698"/>
            </a:xfrm>
          </p:grpSpPr>
          <p:sp>
            <p:nvSpPr>
              <p:cNvPr name="Freeform 124" id="124"/>
              <p:cNvSpPr/>
              <p:nvPr/>
            </p:nvSpPr>
            <p:spPr>
              <a:xfrm flipH="false" flipV="false" rot="0">
                <a:off x="0" y="0"/>
                <a:ext cx="179578" cy="754634"/>
              </a:xfrm>
              <a:custGeom>
                <a:avLst/>
                <a:gdLst/>
                <a:ahLst/>
                <a:cxnLst/>
                <a:rect r="r" b="b" t="t" l="l"/>
                <a:pathLst>
                  <a:path h="754634" w="179578">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a:srgbClr val="FFB81C"/>
              </a:solidFill>
            </p:spPr>
          </p:sp>
        </p:grpSp>
        <p:grpSp>
          <p:nvGrpSpPr>
            <p:cNvPr name="Group 125" id="125"/>
            <p:cNvGrpSpPr/>
            <p:nvPr/>
          </p:nvGrpSpPr>
          <p:grpSpPr>
            <a:xfrm rot="0">
              <a:off x="0" y="1383614"/>
              <a:ext cx="16479651" cy="7223531"/>
              <a:chOff x="0" y="0"/>
              <a:chExt cx="16479651" cy="7223531"/>
            </a:xfrm>
          </p:grpSpPr>
          <p:sp>
            <p:nvSpPr>
              <p:cNvPr name="Freeform 126" id="126"/>
              <p:cNvSpPr/>
              <p:nvPr/>
            </p:nvSpPr>
            <p:spPr>
              <a:xfrm flipH="false" flipV="false" rot="0">
                <a:off x="0" y="0"/>
                <a:ext cx="16479678" cy="7223506"/>
              </a:xfrm>
              <a:custGeom>
                <a:avLst/>
                <a:gdLst/>
                <a:ahLst/>
                <a:cxnLst/>
                <a:rect r="r" b="b" t="t" l="l"/>
                <a:pathLst>
                  <a:path h="7223506" w="16479678">
                    <a:moveTo>
                      <a:pt x="0" y="433451"/>
                    </a:moveTo>
                    <a:cubicBezTo>
                      <a:pt x="0" y="194056"/>
                      <a:pt x="189736" y="0"/>
                      <a:pt x="423801" y="0"/>
                    </a:cubicBezTo>
                    <a:lnTo>
                      <a:pt x="16055876" y="0"/>
                    </a:lnTo>
                    <a:cubicBezTo>
                      <a:pt x="16289941" y="0"/>
                      <a:pt x="16479678" y="194056"/>
                      <a:pt x="16479678" y="433451"/>
                    </a:cubicBezTo>
                    <a:lnTo>
                      <a:pt x="16479678" y="6790055"/>
                    </a:lnTo>
                    <a:cubicBezTo>
                      <a:pt x="16479678" y="7029450"/>
                      <a:pt x="16289941" y="7223506"/>
                      <a:pt x="16055876" y="7223506"/>
                    </a:cubicBezTo>
                    <a:lnTo>
                      <a:pt x="423801" y="7223506"/>
                    </a:lnTo>
                    <a:cubicBezTo>
                      <a:pt x="189736" y="7223506"/>
                      <a:pt x="0" y="7029450"/>
                      <a:pt x="0" y="6790055"/>
                    </a:cubicBezTo>
                    <a:close/>
                  </a:path>
                </a:pathLst>
              </a:custGeom>
              <a:solidFill>
                <a:srgbClr val="EAF1FB"/>
              </a:solidFill>
              <a:ln w="26953" cap="sq">
                <a:solidFill>
                  <a:srgbClr val="D5DFEA"/>
                </a:solidFill>
                <a:prstDash val="solid"/>
                <a:miter/>
              </a:ln>
            </p:spPr>
          </p:sp>
        </p:grpSp>
        <p:grpSp>
          <p:nvGrpSpPr>
            <p:cNvPr name="Group 127" id="127"/>
            <p:cNvGrpSpPr/>
            <p:nvPr/>
          </p:nvGrpSpPr>
          <p:grpSpPr>
            <a:xfrm rot="0">
              <a:off x="0" y="1401585"/>
              <a:ext cx="4528185" cy="7187590"/>
              <a:chOff x="0" y="0"/>
              <a:chExt cx="4528185" cy="7187590"/>
            </a:xfrm>
          </p:grpSpPr>
          <p:sp>
            <p:nvSpPr>
              <p:cNvPr name="Freeform 128" id="128"/>
              <p:cNvSpPr/>
              <p:nvPr/>
            </p:nvSpPr>
            <p:spPr>
              <a:xfrm flipH="false" flipV="false" rot="0">
                <a:off x="0" y="0"/>
                <a:ext cx="4528185" cy="7187565"/>
              </a:xfrm>
              <a:custGeom>
                <a:avLst/>
                <a:gdLst/>
                <a:ahLst/>
                <a:cxnLst/>
                <a:rect r="r" b="b" t="t" l="l"/>
                <a:pathLst>
                  <a:path h="7187565" w="4528185">
                    <a:moveTo>
                      <a:pt x="0" y="431292"/>
                    </a:moveTo>
                    <a:cubicBezTo>
                      <a:pt x="0" y="193040"/>
                      <a:pt x="193040" y="0"/>
                      <a:pt x="431292" y="0"/>
                    </a:cubicBezTo>
                    <a:lnTo>
                      <a:pt x="4096893" y="0"/>
                    </a:lnTo>
                    <a:cubicBezTo>
                      <a:pt x="4335018" y="0"/>
                      <a:pt x="4528185" y="193040"/>
                      <a:pt x="4528185" y="431292"/>
                    </a:cubicBezTo>
                    <a:lnTo>
                      <a:pt x="4528185" y="6756273"/>
                    </a:lnTo>
                    <a:cubicBezTo>
                      <a:pt x="4528185" y="6994398"/>
                      <a:pt x="4335145" y="7187565"/>
                      <a:pt x="4096893" y="7187565"/>
                    </a:cubicBezTo>
                    <a:lnTo>
                      <a:pt x="431292" y="7187565"/>
                    </a:lnTo>
                    <a:cubicBezTo>
                      <a:pt x="193040" y="7187565"/>
                      <a:pt x="0" y="6994525"/>
                      <a:pt x="0" y="6756273"/>
                    </a:cubicBezTo>
                    <a:close/>
                  </a:path>
                </a:pathLst>
              </a:custGeom>
              <a:solidFill>
                <a:srgbClr val="003594"/>
              </a:solidFill>
            </p:spPr>
          </p:sp>
        </p:grpSp>
        <p:grpSp>
          <p:nvGrpSpPr>
            <p:cNvPr name="Group 129" id="129"/>
            <p:cNvGrpSpPr/>
            <p:nvPr/>
          </p:nvGrpSpPr>
          <p:grpSpPr>
            <a:xfrm rot="0">
              <a:off x="431254" y="2120341"/>
              <a:ext cx="3665677" cy="1581264"/>
              <a:chOff x="0" y="0"/>
              <a:chExt cx="3665677" cy="1581264"/>
            </a:xfrm>
          </p:grpSpPr>
          <p:sp>
            <p:nvSpPr>
              <p:cNvPr name="Freeform 130" id="130"/>
              <p:cNvSpPr/>
              <p:nvPr/>
            </p:nvSpPr>
            <p:spPr>
              <a:xfrm flipH="false" flipV="false" rot="0">
                <a:off x="0" y="0"/>
                <a:ext cx="3665672" cy="1581270"/>
              </a:xfrm>
              <a:custGeom>
                <a:avLst/>
                <a:gdLst/>
                <a:ahLst/>
                <a:cxnLst/>
                <a:rect r="r" b="b" t="t" l="l"/>
                <a:pathLst>
                  <a:path h="1581270" w="3665672">
                    <a:moveTo>
                      <a:pt x="0" y="0"/>
                    </a:moveTo>
                    <a:lnTo>
                      <a:pt x="3665672" y="0"/>
                    </a:lnTo>
                    <a:lnTo>
                      <a:pt x="3665672" y="1581270"/>
                    </a:lnTo>
                    <a:lnTo>
                      <a:pt x="0" y="1581270"/>
                    </a:lnTo>
                    <a:close/>
                  </a:path>
                </a:pathLst>
              </a:custGeom>
              <a:blipFill>
                <a:blip r:embed="rId5">
                  <a:alphaModFix amt="0"/>
                </a:blip>
                <a:stretch>
                  <a:fillRect l="-5346" t="0" r="-5346" b="0"/>
                </a:stretch>
              </a:blipFill>
            </p:spPr>
          </p:sp>
          <p:sp>
            <p:nvSpPr>
              <p:cNvPr name="TextBox 131" id="131"/>
              <p:cNvSpPr txBox="true"/>
              <p:nvPr/>
            </p:nvSpPr>
            <p:spPr>
              <a:xfrm>
                <a:off x="0" y="-9525"/>
                <a:ext cx="3665677" cy="1590789"/>
              </a:xfrm>
              <a:prstGeom prst="rect">
                <a:avLst/>
              </a:prstGeom>
            </p:spPr>
            <p:txBody>
              <a:bodyPr anchor="ctr" rtlCol="false" tIns="0" lIns="0" bIns="0" rIns="0"/>
              <a:lstStyle/>
              <a:p>
                <a:pPr algn="ctr">
                  <a:lnSpc>
                    <a:spcPts val="3310"/>
                  </a:lnSpc>
                </a:pPr>
                <a:r>
                  <a:rPr lang="en-US" sz="2759" b="true">
                    <a:solidFill>
                      <a:srgbClr val="FFFFFF"/>
                    </a:solidFill>
                    <a:latin typeface="Georgia Bold"/>
                    <a:ea typeface="Georgia Bold"/>
                    <a:cs typeface="Georgia Bold"/>
                    <a:sym typeface="Georgia Bold"/>
                  </a:rPr>
                  <a:t>Paper</a:t>
                </a:r>
              </a:p>
              <a:p>
                <a:pPr algn="ctr">
                  <a:lnSpc>
                    <a:spcPts val="3310"/>
                  </a:lnSpc>
                </a:pPr>
                <a:r>
                  <a:rPr lang="en-US" sz="2759" b="true">
                    <a:solidFill>
                      <a:srgbClr val="FFFFFF"/>
                    </a:solidFill>
                    <a:latin typeface="Georgia Bold"/>
                    <a:ea typeface="Georgia Bold"/>
                    <a:cs typeface="Georgia Bold"/>
                    <a:sym typeface="Georgia Bold"/>
                  </a:rPr>
                  <a:t>Submission</a:t>
                </a:r>
              </a:p>
            </p:txBody>
          </p:sp>
        </p:grpSp>
        <p:grpSp>
          <p:nvGrpSpPr>
            <p:cNvPr name="Group 132" id="132"/>
            <p:cNvGrpSpPr/>
            <p:nvPr/>
          </p:nvGrpSpPr>
          <p:grpSpPr>
            <a:xfrm rot="0">
              <a:off x="359372" y="4060990"/>
              <a:ext cx="3809428" cy="2228152"/>
              <a:chOff x="0" y="0"/>
              <a:chExt cx="3809428" cy="2228152"/>
            </a:xfrm>
          </p:grpSpPr>
          <p:sp>
            <p:nvSpPr>
              <p:cNvPr name="Freeform 133" id="133"/>
              <p:cNvSpPr/>
              <p:nvPr/>
            </p:nvSpPr>
            <p:spPr>
              <a:xfrm flipH="false" flipV="false" rot="0">
                <a:off x="0" y="0"/>
                <a:ext cx="3809423" cy="2228153"/>
              </a:xfrm>
              <a:custGeom>
                <a:avLst/>
                <a:gdLst/>
                <a:ahLst/>
                <a:cxnLst/>
                <a:rect r="r" b="b" t="t" l="l"/>
                <a:pathLst>
                  <a:path h="2228153" w="3809423">
                    <a:moveTo>
                      <a:pt x="0" y="0"/>
                    </a:moveTo>
                    <a:lnTo>
                      <a:pt x="3809423" y="0"/>
                    </a:lnTo>
                    <a:lnTo>
                      <a:pt x="3809423" y="2228153"/>
                    </a:lnTo>
                    <a:lnTo>
                      <a:pt x="0" y="2228153"/>
                    </a:lnTo>
                    <a:close/>
                  </a:path>
                </a:pathLst>
              </a:custGeom>
              <a:blipFill>
                <a:blip r:embed="rId5">
                  <a:alphaModFix amt="0"/>
                </a:blip>
                <a:stretch>
                  <a:fillRect l="-25045" t="0" r="-25045" b="0"/>
                </a:stretch>
              </a:blipFill>
            </p:spPr>
          </p:sp>
          <p:sp>
            <p:nvSpPr>
              <p:cNvPr name="TextBox 134" id="134"/>
              <p:cNvSpPr txBox="true"/>
              <p:nvPr/>
            </p:nvSpPr>
            <p:spPr>
              <a:xfrm>
                <a:off x="0" y="57150"/>
                <a:ext cx="3809428" cy="2171002"/>
              </a:xfrm>
              <a:prstGeom prst="rect">
                <a:avLst/>
              </a:prstGeom>
            </p:spPr>
            <p:txBody>
              <a:bodyPr anchor="ctr" rtlCol="false" tIns="0" lIns="0" bIns="0" rIns="0"/>
              <a:lstStyle/>
              <a:p>
                <a:pPr algn="ctr">
                  <a:lnSpc>
                    <a:spcPts val="6417"/>
                  </a:lnSpc>
                </a:pPr>
                <a:r>
                  <a:rPr lang="en-US" sz="5942" b="true">
                    <a:solidFill>
                      <a:srgbClr val="FFB81C"/>
                    </a:solidFill>
                    <a:latin typeface="Georgia Bold"/>
                    <a:ea typeface="Georgia Bold"/>
                    <a:cs typeface="Georgia Bold"/>
                    <a:sym typeface="Georgia Bold"/>
                  </a:rPr>
                  <a:t>Oct 31</a:t>
                </a:r>
              </a:p>
              <a:p>
                <a:pPr algn="ctr">
                  <a:lnSpc>
                    <a:spcPts val="6417"/>
                  </a:lnSpc>
                </a:pPr>
                <a:r>
                  <a:rPr lang="en-US" sz="5942" b="true">
                    <a:solidFill>
                      <a:srgbClr val="FFB81C"/>
                    </a:solidFill>
                    <a:latin typeface="Georgia Bold"/>
                    <a:ea typeface="Georgia Bold"/>
                    <a:cs typeface="Georgia Bold"/>
                    <a:sym typeface="Georgia Bold"/>
                  </a:rPr>
                  <a:t>2026</a:t>
                </a:r>
              </a:p>
            </p:txBody>
          </p:sp>
        </p:grpSp>
        <p:sp>
          <p:nvSpPr>
            <p:cNvPr name="TextBox 135" id="135"/>
            <p:cNvSpPr txBox="true"/>
            <p:nvPr/>
          </p:nvSpPr>
          <p:spPr>
            <a:xfrm rot="0">
              <a:off x="5103190" y="1967065"/>
              <a:ext cx="11068888" cy="5953125"/>
            </a:xfrm>
            <a:prstGeom prst="rect">
              <a:avLst/>
            </a:prstGeom>
          </p:spPr>
          <p:txBody>
            <a:bodyPr anchor="t" rtlCol="false" tIns="0" lIns="0" bIns="0" rIns="0">
              <a:spAutoFit/>
            </a:bodyPr>
            <a:lstStyle/>
            <a:p>
              <a:pPr algn="l">
                <a:lnSpc>
                  <a:spcPts val="2937"/>
                </a:lnSpc>
              </a:pPr>
              <a:r>
                <a:rPr lang="en-US" sz="2448" b="true">
                  <a:solidFill>
                    <a:srgbClr val="17233A"/>
                  </a:solidFill>
                  <a:latin typeface="Arial Bold"/>
                  <a:ea typeface="Arial Bold"/>
                  <a:cs typeface="Arial Bold"/>
                  <a:sym typeface="Arial Bold"/>
                </a:rPr>
                <a:t>- Format: </a:t>
              </a:r>
              <a:r>
                <a:rPr lang="en-US" sz="2448">
                  <a:solidFill>
                    <a:srgbClr val="17233A"/>
                  </a:solidFill>
                  <a:latin typeface="Arial"/>
                  <a:ea typeface="Arial"/>
                  <a:cs typeface="Arial"/>
                  <a:sym typeface="Arial"/>
                </a:rPr>
                <a:t>PDF, 2-column ACM sigconf template</a:t>
              </a:r>
            </a:p>
            <a:p>
              <a:pPr algn="l">
                <a:lnSpc>
                  <a:spcPts val="2937"/>
                </a:lnSpc>
              </a:pPr>
            </a:p>
            <a:p>
              <a:pPr algn="l">
                <a:lnSpc>
                  <a:spcPts val="2937"/>
                </a:lnSpc>
              </a:pPr>
              <a:r>
                <a:rPr lang="en-US" sz="2448" b="true">
                  <a:solidFill>
                    <a:srgbClr val="17233A"/>
                  </a:solidFill>
                  <a:latin typeface="Arial Bold"/>
                  <a:ea typeface="Arial Bold"/>
                  <a:cs typeface="Arial Bold"/>
                  <a:sym typeface="Arial Bold"/>
                </a:rPr>
                <a:t>- Length: </a:t>
              </a:r>
              <a:r>
                <a:rPr lang="en-US" sz="2448">
                  <a:solidFill>
                    <a:srgbClr val="17233A"/>
                  </a:solidFill>
                  <a:latin typeface="Arial"/>
                  <a:ea typeface="Arial"/>
                  <a:cs typeface="Arial"/>
                  <a:sym typeface="Arial"/>
                </a:rPr>
                <a:t>up to 9 pages, including appendix</a:t>
              </a:r>
            </a:p>
            <a:p>
              <a:pPr algn="l">
                <a:lnSpc>
                  <a:spcPts val="2937"/>
                </a:lnSpc>
              </a:pPr>
            </a:p>
            <a:p>
              <a:pPr algn="l">
                <a:lnSpc>
                  <a:spcPts val="2937"/>
                </a:lnSpc>
              </a:pPr>
              <a:r>
                <a:rPr lang="en-US" sz="2448" b="true">
                  <a:solidFill>
                    <a:srgbClr val="17233A"/>
                  </a:solidFill>
                  <a:latin typeface="Arial Bold"/>
                  <a:ea typeface="Arial Bold"/>
                  <a:cs typeface="Arial Bold"/>
                  <a:sym typeface="Arial Bold"/>
                </a:rPr>
                <a:t>- </a:t>
              </a:r>
              <a:r>
                <a:rPr lang="en-US" sz="2448">
                  <a:solidFill>
                    <a:srgbClr val="17233A"/>
                  </a:solidFill>
                  <a:latin typeface="Arial"/>
                  <a:ea typeface="Arial"/>
                  <a:cs typeface="Arial"/>
                  <a:sym typeface="Arial"/>
                </a:rPr>
                <a:t>Unlimited additional pages for references and the required GenAI Usage Disclosure</a:t>
              </a:r>
            </a:p>
            <a:p>
              <a:pPr algn="l">
                <a:lnSpc>
                  <a:spcPts val="2937"/>
                </a:lnSpc>
              </a:pPr>
            </a:p>
            <a:p>
              <a:pPr algn="l">
                <a:lnSpc>
                  <a:spcPts val="2937"/>
                </a:lnSpc>
              </a:pPr>
              <a:r>
                <a:rPr lang="en-US" sz="2448" b="true">
                  <a:solidFill>
                    <a:srgbClr val="17233A"/>
                  </a:solidFill>
                  <a:latin typeface="Arial Bold"/>
                  <a:ea typeface="Arial Bold"/>
                  <a:cs typeface="Arial Bold"/>
                  <a:sym typeface="Arial Bold"/>
                </a:rPr>
                <a:t>- </a:t>
              </a:r>
              <a:r>
                <a:rPr lang="en-US" sz="2448">
                  <a:solidFill>
                    <a:srgbClr val="17233A"/>
                  </a:solidFill>
                  <a:latin typeface="Arial"/>
                  <a:ea typeface="Arial"/>
                  <a:cs typeface="Arial"/>
                  <a:sym typeface="Arial"/>
                </a:rPr>
                <a:t>Remove author names, affiliations, identifying metadata, and obvious self-references</a:t>
              </a:r>
            </a:p>
            <a:p>
              <a:pPr algn="l">
                <a:lnSpc>
                  <a:spcPts val="2937"/>
                </a:lnSpc>
              </a:pPr>
            </a:p>
            <a:p>
              <a:pPr algn="l">
                <a:lnSpc>
                  <a:spcPts val="2937"/>
                </a:lnSpc>
              </a:pPr>
              <a:r>
                <a:rPr lang="en-US" sz="2448" b="true">
                  <a:solidFill>
                    <a:srgbClr val="17233A"/>
                  </a:solidFill>
                  <a:latin typeface="Arial Bold"/>
                  <a:ea typeface="Arial Bold"/>
                  <a:cs typeface="Arial Bold"/>
                  <a:sym typeface="Arial Bold"/>
                </a:rPr>
                <a:t>- </a:t>
              </a:r>
              <a:r>
                <a:rPr lang="en-US" sz="2448">
                  <a:solidFill>
                    <a:srgbClr val="17233A"/>
                  </a:solidFill>
                  <a:latin typeface="Arial"/>
                  <a:ea typeface="Arial"/>
                  <a:cs typeface="Arial"/>
                  <a:sym typeface="Arial"/>
                </a:rPr>
                <a:t>Accepted papers: ACM Digital Library; indexed in EI Compendex and Scopus</a:t>
              </a:r>
            </a:p>
          </p:txBody>
        </p:sp>
        <p:sp>
          <p:nvSpPr>
            <p:cNvPr name="TextBox 136" id="136"/>
            <p:cNvSpPr txBox="true"/>
            <p:nvPr/>
          </p:nvSpPr>
          <p:spPr>
            <a:xfrm rot="0">
              <a:off x="5103190" y="6270092"/>
              <a:ext cx="11068888" cy="479715"/>
            </a:xfrm>
            <a:prstGeom prst="rect">
              <a:avLst/>
            </a:prstGeom>
          </p:spPr>
          <p:txBody>
            <a:bodyPr anchor="t" rtlCol="false" tIns="0" lIns="0" bIns="0" rIns="0">
              <a:spAutoFit/>
            </a:bodyPr>
            <a:lstStyle/>
            <a:p>
              <a:pPr algn="l">
                <a:lnSpc>
                  <a:spcPts val="2781"/>
                </a:lnSpc>
              </a:pPr>
            </a:p>
          </p:txBody>
        </p:sp>
      </p:grpSp>
      <p:grpSp>
        <p:nvGrpSpPr>
          <p:cNvPr name="Group 137" id="137"/>
          <p:cNvGrpSpPr/>
          <p:nvPr/>
        </p:nvGrpSpPr>
        <p:grpSpPr>
          <a:xfrm rot="0">
            <a:off x="15069168" y="347511"/>
            <a:ext cx="6735241" cy="1299065"/>
            <a:chOff x="0" y="0"/>
            <a:chExt cx="8980321" cy="1732087"/>
          </a:xfrm>
        </p:grpSpPr>
        <p:grpSp>
          <p:nvGrpSpPr>
            <p:cNvPr name="Group 138" id="138"/>
            <p:cNvGrpSpPr/>
            <p:nvPr/>
          </p:nvGrpSpPr>
          <p:grpSpPr>
            <a:xfrm rot="0">
              <a:off x="0" y="0"/>
              <a:ext cx="8980321" cy="1732087"/>
              <a:chOff x="0" y="0"/>
              <a:chExt cx="853349" cy="164590"/>
            </a:xfrm>
          </p:grpSpPr>
          <p:sp>
            <p:nvSpPr>
              <p:cNvPr name="Freeform 139" id="139"/>
              <p:cNvSpPr/>
              <p:nvPr/>
            </p:nvSpPr>
            <p:spPr>
              <a:xfrm flipH="false" flipV="false" rot="0">
                <a:off x="0" y="0"/>
                <a:ext cx="853349" cy="164590"/>
              </a:xfrm>
              <a:custGeom>
                <a:avLst/>
                <a:gdLst/>
                <a:ahLst/>
                <a:cxnLst/>
                <a:rect r="r" b="b" t="t" l="l"/>
                <a:pathLst>
                  <a:path h="164590" w="853349">
                    <a:moveTo>
                      <a:pt x="31036" y="0"/>
                    </a:moveTo>
                    <a:lnTo>
                      <a:pt x="822313" y="0"/>
                    </a:lnTo>
                    <a:cubicBezTo>
                      <a:pt x="830544" y="0"/>
                      <a:pt x="838438" y="3270"/>
                      <a:pt x="844259" y="9090"/>
                    </a:cubicBezTo>
                    <a:cubicBezTo>
                      <a:pt x="850079" y="14910"/>
                      <a:pt x="853349" y="22804"/>
                      <a:pt x="853349" y="31036"/>
                    </a:cubicBezTo>
                    <a:lnTo>
                      <a:pt x="853349" y="133555"/>
                    </a:lnTo>
                    <a:cubicBezTo>
                      <a:pt x="853349" y="141786"/>
                      <a:pt x="850079" y="149680"/>
                      <a:pt x="844259" y="155500"/>
                    </a:cubicBezTo>
                    <a:cubicBezTo>
                      <a:pt x="838438" y="161321"/>
                      <a:pt x="830544" y="164590"/>
                      <a:pt x="822313" y="164590"/>
                    </a:cubicBezTo>
                    <a:lnTo>
                      <a:pt x="31036" y="164590"/>
                    </a:lnTo>
                    <a:cubicBezTo>
                      <a:pt x="22804" y="164590"/>
                      <a:pt x="14910" y="161321"/>
                      <a:pt x="9090" y="155500"/>
                    </a:cubicBezTo>
                    <a:cubicBezTo>
                      <a:pt x="3270" y="149680"/>
                      <a:pt x="0" y="141786"/>
                      <a:pt x="0" y="133555"/>
                    </a:cubicBezTo>
                    <a:lnTo>
                      <a:pt x="0" y="31036"/>
                    </a:lnTo>
                    <a:cubicBezTo>
                      <a:pt x="0" y="22804"/>
                      <a:pt x="3270" y="14910"/>
                      <a:pt x="9090" y="9090"/>
                    </a:cubicBezTo>
                    <a:cubicBezTo>
                      <a:pt x="14910" y="3270"/>
                      <a:pt x="22804" y="0"/>
                      <a:pt x="31036" y="0"/>
                    </a:cubicBezTo>
                    <a:close/>
                  </a:path>
                </a:pathLst>
              </a:custGeom>
              <a:solidFill>
                <a:srgbClr val="FFFFFF"/>
              </a:solidFill>
            </p:spPr>
          </p:sp>
          <p:sp>
            <p:nvSpPr>
              <p:cNvPr name="TextBox 140" id="140"/>
              <p:cNvSpPr txBox="true"/>
              <p:nvPr/>
            </p:nvSpPr>
            <p:spPr>
              <a:xfrm>
                <a:off x="0" y="-19050"/>
                <a:ext cx="853349" cy="183640"/>
              </a:xfrm>
              <a:prstGeom prst="rect">
                <a:avLst/>
              </a:prstGeom>
            </p:spPr>
            <p:txBody>
              <a:bodyPr anchor="ctr" rtlCol="false" tIns="50800" lIns="50800" bIns="50800" rIns="50800"/>
              <a:lstStyle/>
              <a:p>
                <a:pPr algn="ctr">
                  <a:lnSpc>
                    <a:spcPts val="3426"/>
                  </a:lnSpc>
                </a:pPr>
              </a:p>
            </p:txBody>
          </p:sp>
        </p:grpSp>
        <p:sp>
          <p:nvSpPr>
            <p:cNvPr name="Freeform 141" id="141"/>
            <p:cNvSpPr/>
            <p:nvPr/>
          </p:nvSpPr>
          <p:spPr>
            <a:xfrm flipH="false" flipV="false" rot="0">
              <a:off x="55198" y="161277"/>
              <a:ext cx="8171357" cy="1409533"/>
            </a:xfrm>
            <a:custGeom>
              <a:avLst/>
              <a:gdLst/>
              <a:ahLst/>
              <a:cxnLst/>
              <a:rect r="r" b="b" t="t" l="l"/>
              <a:pathLst>
                <a:path h="1409533" w="8171357">
                  <a:moveTo>
                    <a:pt x="0" y="0"/>
                  </a:moveTo>
                  <a:lnTo>
                    <a:pt x="8171357" y="0"/>
                  </a:lnTo>
                  <a:lnTo>
                    <a:pt x="8171357" y="1409533"/>
                  </a:lnTo>
                  <a:lnTo>
                    <a:pt x="0" y="1409533"/>
                  </a:lnTo>
                  <a:lnTo>
                    <a:pt x="0" y="0"/>
                  </a:lnTo>
                  <a:close/>
                </a:path>
              </a:pathLst>
            </a:custGeom>
            <a:blipFill>
              <a:blip r:embed="rId10"/>
              <a:stretch>
                <a:fillRect l="0" t="-2494" r="0" b="-2494"/>
              </a:stretch>
            </a:blipFill>
          </p:spPr>
        </p:sp>
      </p:grpSp>
      <p:sp>
        <p:nvSpPr>
          <p:cNvPr name="Freeform 142" id="142"/>
          <p:cNvSpPr/>
          <p:nvPr/>
        </p:nvSpPr>
        <p:spPr>
          <a:xfrm flipH="false" flipV="false" rot="0">
            <a:off x="1188678" y="24164140"/>
            <a:ext cx="3037810" cy="3037810"/>
          </a:xfrm>
          <a:custGeom>
            <a:avLst/>
            <a:gdLst/>
            <a:ahLst/>
            <a:cxnLst/>
            <a:rect r="r" b="b" t="t" l="l"/>
            <a:pathLst>
              <a:path h="3037810" w="3037810">
                <a:moveTo>
                  <a:pt x="0" y="0"/>
                </a:moveTo>
                <a:lnTo>
                  <a:pt x="3037810" y="0"/>
                </a:lnTo>
                <a:lnTo>
                  <a:pt x="3037810" y="3037810"/>
                </a:lnTo>
                <a:lnTo>
                  <a:pt x="0" y="3037810"/>
                </a:lnTo>
                <a:lnTo>
                  <a:pt x="0" y="0"/>
                </a:lnTo>
                <a:close/>
              </a:path>
            </a:pathLst>
          </a:custGeom>
          <a:blipFill>
            <a:blip r:embed="rId11"/>
            <a:stretch>
              <a:fillRect l="0" t="0" r="0" b="0"/>
            </a:stretch>
          </a:blipFill>
        </p:spPr>
      </p:sp>
      <p:sp>
        <p:nvSpPr>
          <p:cNvPr name="Freeform 143" id="143"/>
          <p:cNvSpPr/>
          <p:nvPr/>
        </p:nvSpPr>
        <p:spPr>
          <a:xfrm flipH="false" flipV="false" rot="0">
            <a:off x="4561065" y="24164140"/>
            <a:ext cx="3037810" cy="3037810"/>
          </a:xfrm>
          <a:custGeom>
            <a:avLst/>
            <a:gdLst/>
            <a:ahLst/>
            <a:cxnLst/>
            <a:rect r="r" b="b" t="t" l="l"/>
            <a:pathLst>
              <a:path h="3037810" w="3037810">
                <a:moveTo>
                  <a:pt x="0" y="0"/>
                </a:moveTo>
                <a:lnTo>
                  <a:pt x="3037810" y="0"/>
                </a:lnTo>
                <a:lnTo>
                  <a:pt x="3037810" y="3037810"/>
                </a:lnTo>
                <a:lnTo>
                  <a:pt x="0" y="3037810"/>
                </a:lnTo>
                <a:lnTo>
                  <a:pt x="0" y="0"/>
                </a:lnTo>
                <a:close/>
              </a:path>
            </a:pathLst>
          </a:custGeom>
          <a:blipFill>
            <a:blip r:embed="rId12"/>
            <a:stretch>
              <a:fillRect l="0" t="0" r="0" b="0"/>
            </a:stretch>
          </a:blipFill>
        </p:spPr>
      </p:sp>
      <p:sp>
        <p:nvSpPr>
          <p:cNvPr name="Freeform 144" id="144"/>
          <p:cNvSpPr/>
          <p:nvPr/>
        </p:nvSpPr>
        <p:spPr>
          <a:xfrm flipH="false" flipV="false" rot="0">
            <a:off x="1188678" y="24164140"/>
            <a:ext cx="3037810" cy="3037810"/>
          </a:xfrm>
          <a:custGeom>
            <a:avLst/>
            <a:gdLst/>
            <a:ahLst/>
            <a:cxnLst/>
            <a:rect r="r" b="b" t="t" l="l"/>
            <a:pathLst>
              <a:path h="3037810" w="3037810">
                <a:moveTo>
                  <a:pt x="0" y="0"/>
                </a:moveTo>
                <a:lnTo>
                  <a:pt x="3037810" y="0"/>
                </a:lnTo>
                <a:lnTo>
                  <a:pt x="3037810" y="3037810"/>
                </a:lnTo>
                <a:lnTo>
                  <a:pt x="0" y="3037810"/>
                </a:lnTo>
                <a:lnTo>
                  <a:pt x="0" y="0"/>
                </a:lnTo>
                <a:close/>
              </a:path>
            </a:pathLst>
          </a:custGeom>
          <a:blipFill>
            <a:blip r:embed="rId13"/>
            <a:stretch>
              <a:fillRect l="0" t="0" r="0" b="0"/>
            </a:stretch>
          </a:blipFill>
        </p:spPr>
      </p:sp>
      <p:sp>
        <p:nvSpPr>
          <p:cNvPr name="TextBox 145" id="145"/>
          <p:cNvSpPr txBox="true"/>
          <p:nvPr/>
        </p:nvSpPr>
        <p:spPr>
          <a:xfrm rot="0">
            <a:off x="14543297" y="11669058"/>
            <a:ext cx="6265624" cy="8946120"/>
          </a:xfrm>
          <a:prstGeom prst="rect">
            <a:avLst/>
          </a:prstGeom>
        </p:spPr>
        <p:txBody>
          <a:bodyPr anchor="t" rtlCol="false" tIns="0" lIns="0" bIns="0" rIns="0">
            <a:spAutoFit/>
          </a:bodyPr>
          <a:lstStyle/>
          <a:p>
            <a:pPr algn="l" marL="539749" indent="-269874" lvl="1">
              <a:lnSpc>
                <a:spcPts val="2824"/>
              </a:lnSpc>
              <a:buFont typeface="Arial"/>
              <a:buChar char="•"/>
            </a:pPr>
            <a:r>
              <a:rPr lang="en-US" sz="2499">
                <a:solidFill>
                  <a:srgbClr val="17233A"/>
                </a:solidFill>
                <a:latin typeface="Arial"/>
                <a:ea typeface="Arial"/>
                <a:cs typeface="Arial"/>
                <a:sym typeface="Arial"/>
              </a:rPr>
              <a:t>Human Factors and User-Centered Design for Healthcare AI</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Post-Deployment Monitoring and Lifecycle Management of AI Systems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Privacy-Preserving and Federated Learning in Healthcare</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Real-World Deployment, Implementation Science, and Clinical Translation</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Robustness, Reliability, Privacy, and Safety of Clinical AI Systems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Synthetic Data and Responsible Generative Methods in Healthcare</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Transparency, Accountability, and Auditable AI Systems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Trust Calibration and Human-AI Collaboration in Healthcare</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Trustworthy AI for Digital Health and Remote Patient Monitoring</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Uncert</a:t>
            </a:r>
            <a:r>
              <a:rPr lang="en-US" sz="2499">
                <a:solidFill>
                  <a:srgbClr val="17233A"/>
                </a:solidFill>
                <a:latin typeface="Arial"/>
                <a:ea typeface="Arial"/>
                <a:cs typeface="Arial"/>
                <a:sym typeface="Arial"/>
              </a:rPr>
              <a:t>ainty Quantification and Confidence-Aware Clinical AI</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Vision-Language and Multimodal AI for Clinical Applications</a:t>
            </a:r>
          </a:p>
        </p:txBody>
      </p:sp>
      <p:sp>
        <p:nvSpPr>
          <p:cNvPr name="TextBox 146" id="146"/>
          <p:cNvSpPr txBox="true"/>
          <p:nvPr/>
        </p:nvSpPr>
        <p:spPr>
          <a:xfrm rot="0">
            <a:off x="8356418" y="7677483"/>
            <a:ext cx="12614224" cy="2457450"/>
          </a:xfrm>
          <a:prstGeom prst="rect">
            <a:avLst/>
          </a:prstGeom>
        </p:spPr>
        <p:txBody>
          <a:bodyPr anchor="t" rtlCol="false" tIns="0" lIns="0" bIns="0" rIns="0">
            <a:spAutoFit/>
          </a:bodyPr>
          <a:lstStyle/>
          <a:p>
            <a:pPr algn="l">
              <a:lnSpc>
                <a:spcPts val="3299"/>
              </a:lnSpc>
            </a:pPr>
            <a:r>
              <a:rPr lang="en-US" sz="2499">
                <a:solidFill>
                  <a:srgbClr val="17233A"/>
                </a:solidFill>
                <a:latin typeface="Arial"/>
                <a:ea typeface="Arial"/>
                <a:cs typeface="Arial"/>
                <a:sym typeface="Arial"/>
              </a:rPr>
              <a:t>REED-AI advances trustworthy AI methods and deployment frameworks for healthcare. We invite original research, position papers, and case studies on transparent, robust, accountable, safe, and ethically aligned clinical AI. The track emphasizes real-world translation, including generalizability, reliability, clinician trust, workflow integration, regulatory readiness, and societal impact, and connects researchers, clinicians, industry, policymakers, and regulators.</a:t>
            </a:r>
          </a:p>
        </p:txBody>
      </p:sp>
      <p:sp>
        <p:nvSpPr>
          <p:cNvPr name="TextBox 147" id="147"/>
          <p:cNvSpPr txBox="true"/>
          <p:nvPr/>
        </p:nvSpPr>
        <p:spPr>
          <a:xfrm rot="0">
            <a:off x="8356418" y="11669058"/>
            <a:ext cx="6179869" cy="8124850"/>
          </a:xfrm>
          <a:prstGeom prst="rect">
            <a:avLst/>
          </a:prstGeom>
        </p:spPr>
        <p:txBody>
          <a:bodyPr anchor="t" rtlCol="false" tIns="0" lIns="0" bIns="0" rIns="0">
            <a:spAutoFit/>
          </a:bodyPr>
          <a:lstStyle/>
          <a:p>
            <a:pPr algn="l" marL="539749" indent="-269874" lvl="1">
              <a:lnSpc>
                <a:spcPts val="2824"/>
              </a:lnSpc>
              <a:buFont typeface="Arial"/>
              <a:buChar char="•"/>
            </a:pPr>
            <a:r>
              <a:rPr lang="en-US" sz="2499">
                <a:solidFill>
                  <a:srgbClr val="17233A"/>
                </a:solidFill>
                <a:latin typeface="Arial"/>
                <a:ea typeface="Arial"/>
                <a:cs typeface="Arial"/>
                <a:sym typeface="Arial"/>
              </a:rPr>
              <a:t>AI for Precision Medicine and Personalized Care</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AI Governance, Regulation, and Compliance in Clinical Environments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Benchmarking, Validation, and Reproducibility of Clinical AI</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Clinical Natural Language Processing and Large Language Models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Ethical-by-Design AI Methodologies and Frameworks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Explainable AI for Medical Imaging and Computer-Assisted Diagnosis</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Explainable and Interpretable AI for Clinical Decision Support</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Fairness, Bias Detection, Bias Mitigation, and Equity-Aware AI</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Foundation Models and Generative AI for Healthcare</a:t>
            </a:r>
          </a:p>
          <a:p>
            <a:pPr algn="l">
              <a:lnSpc>
                <a:spcPts val="904"/>
              </a:lnSpc>
            </a:pPr>
          </a:p>
          <a:p>
            <a:pPr algn="l" marL="539749" indent="-269874" lvl="1">
              <a:lnSpc>
                <a:spcPts val="2824"/>
              </a:lnSpc>
              <a:buFont typeface="Arial"/>
              <a:buChar char="•"/>
            </a:pPr>
            <a:r>
              <a:rPr lang="en-US" sz="2499">
                <a:solidFill>
                  <a:srgbClr val="17233A"/>
                </a:solidFill>
                <a:latin typeface="Arial"/>
                <a:ea typeface="Arial"/>
                <a:cs typeface="Arial"/>
                <a:sym typeface="Arial"/>
              </a:rPr>
              <a:t>Generalizable AI Across Institutions, Populations, and Care Settings</a:t>
            </a:r>
          </a:p>
        </p:txBody>
      </p:sp>
      <p:sp>
        <p:nvSpPr>
          <p:cNvPr name="TextBox 148" id="148"/>
          <p:cNvSpPr txBox="true"/>
          <p:nvPr/>
        </p:nvSpPr>
        <p:spPr>
          <a:xfrm rot="0">
            <a:off x="970321" y="3174141"/>
            <a:ext cx="10943111" cy="1843658"/>
          </a:xfrm>
          <a:prstGeom prst="rect">
            <a:avLst/>
          </a:prstGeom>
        </p:spPr>
        <p:txBody>
          <a:bodyPr anchor="t" rtlCol="false" tIns="0" lIns="0" bIns="0" rIns="0">
            <a:spAutoFit/>
          </a:bodyPr>
          <a:lstStyle/>
          <a:p>
            <a:pPr algn="l">
              <a:lnSpc>
                <a:spcPts val="4941"/>
              </a:lnSpc>
            </a:pPr>
            <a:r>
              <a:rPr lang="en-US" sz="3715" b="true">
                <a:solidFill>
                  <a:srgbClr val="FFFFFF"/>
                </a:solidFill>
                <a:latin typeface="Georgia Bold"/>
                <a:ea typeface="Georgia Bold"/>
                <a:cs typeface="Georgia Bold"/>
                <a:sym typeface="Georgia Bold"/>
              </a:rPr>
              <a:t>Responsible, Explainable,</a:t>
            </a:r>
          </a:p>
          <a:p>
            <a:pPr algn="l">
              <a:lnSpc>
                <a:spcPts val="4941"/>
              </a:lnSpc>
            </a:pPr>
            <a:r>
              <a:rPr lang="en-US" sz="3715" b="true">
                <a:solidFill>
                  <a:srgbClr val="FFFFFF"/>
                </a:solidFill>
                <a:latin typeface="Georgia Bold"/>
                <a:ea typeface="Georgia Bold"/>
                <a:cs typeface="Georgia Bold"/>
                <a:sym typeface="Georgia Bold"/>
              </a:rPr>
              <a:t>and Ethical-by-Design Artificial Intelligence</a:t>
            </a:r>
          </a:p>
          <a:p>
            <a:pPr algn="l">
              <a:lnSpc>
                <a:spcPts val="4941"/>
              </a:lnSpc>
            </a:pPr>
            <a:r>
              <a:rPr lang="en-US" sz="3715" b="true">
                <a:solidFill>
                  <a:srgbClr val="FFFFFF"/>
                </a:solidFill>
                <a:latin typeface="Georgia Bold"/>
                <a:ea typeface="Georgia Bold"/>
                <a:cs typeface="Georgia Bold"/>
                <a:sym typeface="Georgia Bold"/>
              </a:rPr>
              <a:t>in Clinical Applications</a:t>
            </a:r>
          </a:p>
        </p:txBody>
      </p:sp>
      <p:grpSp>
        <p:nvGrpSpPr>
          <p:cNvPr name="Group 149" id="149"/>
          <p:cNvGrpSpPr/>
          <p:nvPr/>
        </p:nvGrpSpPr>
        <p:grpSpPr>
          <a:xfrm rot="0">
            <a:off x="16371265" y="28863122"/>
            <a:ext cx="4474274" cy="904525"/>
            <a:chOff x="0" y="0"/>
            <a:chExt cx="5965698" cy="1206033"/>
          </a:xfrm>
        </p:grpSpPr>
        <p:sp>
          <p:nvSpPr>
            <p:cNvPr name="TextBox 150" id="150"/>
            <p:cNvSpPr txBox="true"/>
            <p:nvPr/>
          </p:nvSpPr>
          <p:spPr>
            <a:xfrm rot="0">
              <a:off x="0" y="666195"/>
              <a:ext cx="5965698" cy="539838"/>
            </a:xfrm>
            <a:prstGeom prst="rect">
              <a:avLst/>
            </a:prstGeom>
          </p:spPr>
          <p:txBody>
            <a:bodyPr anchor="t" rtlCol="false" tIns="0" lIns="0" bIns="0" rIns="0">
              <a:spAutoFit/>
            </a:bodyPr>
            <a:lstStyle/>
            <a:p>
              <a:pPr algn="r">
                <a:lnSpc>
                  <a:spcPts val="3107"/>
                </a:lnSpc>
              </a:pPr>
              <a:r>
                <a:rPr lang="en-US" b="true" sz="2589" u="sng">
                  <a:solidFill>
                    <a:srgbClr val="467886"/>
                  </a:solidFill>
                  <a:latin typeface="Arial Bold"/>
                  <a:ea typeface="Arial Bold"/>
                  <a:cs typeface="Arial Bold"/>
                  <a:sym typeface="Arial Bold"/>
                  <a:hlinkClick r:id="rId14" tooltip="https://eigtrust.acm.org/trust2027/"/>
                </a:rPr>
                <a:t>eigtrust.acm.org/trust2027</a:t>
              </a:r>
            </a:p>
          </p:txBody>
        </p:sp>
        <p:sp>
          <p:nvSpPr>
            <p:cNvPr name="TextBox 151" id="151"/>
            <p:cNvSpPr txBox="true"/>
            <p:nvPr/>
          </p:nvSpPr>
          <p:spPr>
            <a:xfrm rot="0">
              <a:off x="71869" y="-19050"/>
              <a:ext cx="5893829" cy="565194"/>
            </a:xfrm>
            <a:prstGeom prst="rect">
              <a:avLst/>
            </a:prstGeom>
          </p:spPr>
          <p:txBody>
            <a:bodyPr anchor="t" rtlCol="false" tIns="0" lIns="0" bIns="0" rIns="0">
              <a:spAutoFit/>
            </a:bodyPr>
            <a:lstStyle/>
            <a:p>
              <a:pPr algn="r">
                <a:lnSpc>
                  <a:spcPts val="3254"/>
                </a:lnSpc>
              </a:pPr>
              <a:r>
                <a:rPr lang="en-US" sz="2712">
                  <a:solidFill>
                    <a:srgbClr val="54647A"/>
                  </a:solidFill>
                  <a:latin typeface="Arial"/>
                  <a:ea typeface="Arial"/>
                  <a:cs typeface="Arial"/>
                  <a:sym typeface="Arial"/>
                </a:rPr>
                <a:t>Official Conference Website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DAHQO636xBo</dc:identifier>
  <dcterms:modified xsi:type="dcterms:W3CDTF">2011-08-01T06:04:30Z</dcterms:modified>
  <cp:revision>1</cp:revision>
  <dc:title>REED-AI_ACM-TRUST-2027_A4-Poster</dc:title>
</cp:coreProperties>
</file>